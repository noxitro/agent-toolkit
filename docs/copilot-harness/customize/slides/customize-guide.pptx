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1c1deeb7-f6ff-608a-d017-c2bb77a67059}">
          <p14:sldIdLst>
            <p14:sldId id="256"/>
            <p14:sldId id="257"/>
            <p14:sldId id="258"/>
            <p14:sldId id="259"/>
          </p14:sldIdLst>
        </p14:section>
        <p14:section name="1. 指示" id="{9e21441a-e7d9-4ac3-abc0-99ec8c682d8b}">
          <p14:sldIdLst>
            <p14:sldId id="260"/>
            <p14:sldId id="261"/>
            <p14:sldId id="262"/>
          </p14:sldIdLst>
        </p14:section>
        <p14:section name="2. スキル" id="{849d395d-e2b2-349e-a855-182bc8f52b16}">
          <p14:sldIdLst>
            <p14:sldId id="263"/>
            <p14:sldId id="264"/>
            <p14:sldId id="265"/>
            <p14:sldId id="266"/>
          </p14:sldIdLst>
        </p14:section>
        <p14:section name="3. カスタムエージェント" id="{700e120b-8a82-be90-6856-5207c415a8f6}">
          <p14:sldIdLst>
            <p14:sldId id="267"/>
            <p14:sldId id="268"/>
            <p14:sldId id="269"/>
          </p14:sldIdLst>
        </p14:section>
        <p14:section name="4. MCP" id="{bd92fe9d-4211-8b42-0757-7e0c45c4a4e4}">
          <p14:sldIdLst>
            <p14:sldId id="270"/>
            <p14:sldId id="271"/>
          </p14:sldIdLst>
        </p14:section>
        <p14:section name="5. 組み合わせる" id="{da907e15-c5c6-ab7b-5970-0057bcfcba47}">
          <p14:sldIdLst>
            <p14:sldId id="272"/>
            <p14:sldId id="273"/>
            <p14:sldId id="274"/>
            <p14:sldId id="275"/>
          </p14:sldIdLst>
        </p14:section>
        <p14:section name="まとめ" id="{6164d755-5eed-82cf-f976-9d3591c07b00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分の説明会用。細かい仕様には触れない。質問が細部に及んだら「詳細資料・上級者向け(advanced/)」を案内する。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つ目を一番強調する。最初から完璧なものを書こうとしなくてよい。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表の「いつ読まれる」の列がポイント。指示は毎回、スキルは必要なときだけ。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左から順に問う。どれにも当てはまらなければ、何も作らずにその場で頼めば十分。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新人に渡すメモと同じ、と説明する。AGENTS.md は多くのエージェントが読む共通の名前。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「ファイルを直したら新しい会話で」は必ず伝える。開いたままの会話には反映されない。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普段は名前と説明文だけが見えている。だから数があっても会話が重くなりにくい。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呼ばれないときに本文を直す人が多い。直すのは説明文。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/スキル名 で直接呼べることも見せる。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に edit を入れていないので、このレビュー担当はファイルを直せない。ここが第 5 章の「確かめる役」につながる。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何でも分けない、を強調する。分けるほど時間とコストが増える。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には最初からつながっている。コマンドで済むものは MCP にしない。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ここまでの部品を組み合わせただけ。新しい仕組みを覚える必要はない。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雛形は templates/ にある。{{ }} を埋めるだけ。HARNESS.md だけはエージェントと相談して埋める。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エージェントが出す合格条件は甘くなりがち。人の仕事は足すことではなく、減らすことと厳しくすること。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最後に「全部を覚える必要はない。エージェントと一緒に育てる」を繰り返す。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エージェントのカスタマイズ入門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エージェントのカスタマイズ入門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エージェントのカスタマイズ入門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GitHub Copilot などのエージェントに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「このリポジトリではこうしてね」を覚えさせる 4 つの部品</a:t>
            </a:r>
            <a:endParaRPr lang="en-US" sz="1500" dirty="0"/>
          </a:p>
        </p:txBody>
      </p:sp>
      <p:sp>
        <p:nvSpPr>
          <p:cNvPr id="4" name="dot"/>
          <p:cNvSpPr/>
          <p:nvPr/>
        </p:nvSpPr>
        <p:spPr>
          <a:xfrm>
            <a:off x="548640" y="4206240"/>
            <a:ext cx="292608" cy="29260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005840" y="4206240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463040" y="4206240"/>
            <a:ext cx="292608" cy="292608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7" name="dot"/>
          <p:cNvSpPr/>
          <p:nvPr/>
        </p:nvSpPr>
        <p:spPr>
          <a:xfrm>
            <a:off x="1920240" y="4206240"/>
            <a:ext cx="292608" cy="292608"/>
          </a:xfrm>
          <a:prstGeom prst="ellipse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2377440" y="4206240"/>
            <a:ext cx="292608" cy="29260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note"/>
          <p:cNvSpPr txBox="1"/>
          <p:nvPr/>
        </p:nvSpPr>
        <p:spPr>
          <a:xfrm>
            <a:off x="3017520" y="4206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読む資料: docs/copilot-harness/customize/README.md(このスライドは要点の写し)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最初に覚えることは 3 つだけ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0972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chip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chip-label"/>
          <p:cNvSpPr txBox="1"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d-head"/>
          <p:cNvSpPr txBox="1"/>
          <p:nvPr/>
        </p:nvSpPr>
        <p:spPr>
          <a:xfrm>
            <a:off x="64008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</a:rPr>
              <a:t>部品は 4 つだけ</a:t>
            </a:r>
            <a:endParaRPr lang="en-US" sz="1700" dirty="0"/>
          </a:p>
        </p:txBody>
      </p:sp>
      <p:sp>
        <p:nvSpPr>
          <p:cNvPr id="8" name="card-body"/>
          <p:cNvSpPr txBox="1"/>
          <p:nvPr/>
        </p:nvSpPr>
        <p:spPr>
          <a:xfrm>
            <a:off x="640080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指示・スキル・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カスタムエージェント・MCP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46120" y="10972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chip"/>
          <p:cNvSpPr/>
          <p:nvPr/>
        </p:nvSpPr>
        <p:spPr>
          <a:xfrm>
            <a:off x="3429000" y="1280160"/>
            <a:ext cx="640080" cy="64008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chip-label"/>
          <p:cNvSpPr txBox="1"/>
          <p:nvPr/>
        </p:nvSpPr>
        <p:spPr>
          <a:xfrm>
            <a:off x="34290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ard-head"/>
          <p:cNvSpPr txBox="1"/>
          <p:nvPr/>
        </p:nvSpPr>
        <p:spPr>
          <a:xfrm>
            <a:off x="342900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中身はただのテキスト</a:t>
            </a:r>
            <a:endParaRPr lang="en-US" sz="1700" dirty="0"/>
          </a:p>
        </p:txBody>
      </p:sp>
      <p:sp>
        <p:nvSpPr>
          <p:cNvPr id="13" name="card-body"/>
          <p:cNvSpPr txBox="1"/>
          <p:nvPr/>
        </p:nvSpPr>
        <p:spPr>
          <a:xfrm>
            <a:off x="3429000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決まった場所に Markdown を置けば、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エージェントが読んでくれる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035040" y="10972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chip"/>
          <p:cNvSpPr/>
          <p:nvPr/>
        </p:nvSpPr>
        <p:spPr>
          <a:xfrm>
            <a:off x="6217920" y="1280160"/>
            <a:ext cx="640080" cy="6400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chip-label"/>
          <p:cNvSpPr txBox="1"/>
          <p:nvPr/>
        </p:nvSpPr>
        <p:spPr>
          <a:xfrm>
            <a:off x="62179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card-head"/>
          <p:cNvSpPr txBox="1"/>
          <p:nvPr/>
        </p:nvSpPr>
        <p:spPr>
          <a:xfrm>
            <a:off x="621792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26A00"/>
                </a:solidFill>
              </a:rPr>
              <a:t>自分で全部書かなくていい</a:t>
            </a:r>
            <a:endParaRPr lang="en-US" sz="1700" dirty="0"/>
          </a:p>
        </p:txBody>
      </p:sp>
      <p:sp>
        <p:nvSpPr>
          <p:cNvPr id="18" name="card-body"/>
          <p:cNvSpPr txBox="1"/>
          <p:nvPr/>
        </p:nvSpPr>
        <p:spPr>
          <a:xfrm>
            <a:off x="6217920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エージェントに下書きを頼み、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使いながら一緒に直していく。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最初から完璧を目指さない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 つの部品</a:t>
            </a:r>
            <a:endParaRPr lang="en-US" sz="2400" dirty="0"/>
          </a:p>
        </p:txBody>
      </p:sp>
      <p:sp>
        <p:nvSpPr>
          <p:cNvPr id="4" name="label"/>
          <p:cNvSpPr txBox="1"/>
          <p:nvPr/>
        </p:nvSpPr>
        <p:spPr>
          <a:xfrm>
            <a:off x="45720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ひとことで</a:t>
            </a:r>
            <a:endParaRPr lang="en-US" sz="1100" dirty="0"/>
          </a:p>
        </p:txBody>
      </p:sp>
      <p:sp>
        <p:nvSpPr>
          <p:cNvPr id="5" name="label"/>
          <p:cNvSpPr txBox="1"/>
          <p:nvPr/>
        </p:nvSpPr>
        <p:spPr>
          <a:xfrm>
            <a:off x="45720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いつ読まれる</a:t>
            </a:r>
            <a:endParaRPr lang="en-US" sz="1100" dirty="0"/>
          </a:p>
        </p:txBody>
      </p:sp>
      <p:sp>
        <p:nvSpPr>
          <p:cNvPr id="6" name="label"/>
          <p:cNvSpPr txBox="1"/>
          <p:nvPr/>
        </p:nvSpPr>
        <p:spPr>
          <a:xfrm>
            <a:off x="45720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置き場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1508760" y="1005840"/>
            <a:ext cx="1691640" cy="3611880"/>
          </a:xfrm>
          <a:prstGeom prst="roundRect">
            <a:avLst>
              <a:gd name="adj" fmla="val 5405"/>
            </a:avLst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card-head"/>
          <p:cNvSpPr txBox="1"/>
          <p:nvPr/>
        </p:nvSpPr>
        <p:spPr>
          <a:xfrm>
            <a:off x="1600200" y="1097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</a:rPr>
              <a:t>指示</a:t>
            </a:r>
            <a:endParaRPr lang="en-US" sz="1500" dirty="0"/>
          </a:p>
        </p:txBody>
      </p:sp>
      <p:sp>
        <p:nvSpPr>
          <p:cNvPr id="9" name="card-body"/>
          <p:cNvSpPr txBox="1"/>
          <p:nvPr/>
        </p:nvSpPr>
        <p:spPr>
          <a:xfrm>
            <a:off x="1600200" y="18288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いつも守ってほしい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約束ごと</a:t>
            </a:r>
            <a:endParaRPr lang="en-US" sz="1250" dirty="0"/>
          </a:p>
        </p:txBody>
      </p:sp>
      <p:sp>
        <p:nvSpPr>
          <p:cNvPr id="10" name="card-body"/>
          <p:cNvSpPr txBox="1"/>
          <p:nvPr/>
        </p:nvSpPr>
        <p:spPr>
          <a:xfrm>
            <a:off x="160020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毎回</a:t>
            </a:r>
            <a:endParaRPr lang="en-US" sz="1250" dirty="0"/>
          </a:p>
        </p:txBody>
      </p:sp>
      <p:sp>
        <p:nvSpPr>
          <p:cNvPr id="11" name="card-body"/>
          <p:cNvSpPr txBox="1"/>
          <p:nvPr/>
        </p:nvSpPr>
        <p:spPr>
          <a:xfrm>
            <a:off x="160020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3337560" y="1005840"/>
            <a:ext cx="1691640" cy="3611880"/>
          </a:xfrm>
          <a:prstGeom prst="roundRect">
            <a:avLst>
              <a:gd name="adj" fmla="val 5405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card-head"/>
          <p:cNvSpPr txBox="1"/>
          <p:nvPr/>
        </p:nvSpPr>
        <p:spPr>
          <a:xfrm>
            <a:off x="3429000" y="1097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スキル</a:t>
            </a:r>
            <a:endParaRPr lang="en-US" sz="1500" dirty="0"/>
          </a:p>
        </p:txBody>
      </p:sp>
      <p:sp>
        <p:nvSpPr>
          <p:cNvPr id="14" name="card-body"/>
          <p:cNvSpPr txBox="1"/>
          <p:nvPr/>
        </p:nvSpPr>
        <p:spPr>
          <a:xfrm>
            <a:off x="3429000" y="18288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特定の作業の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手順書</a:t>
            </a:r>
            <a:endParaRPr lang="en-US" sz="1250" dirty="0"/>
          </a:p>
        </p:txBody>
      </p:sp>
      <p:sp>
        <p:nvSpPr>
          <p:cNvPr id="15" name="card-body"/>
          <p:cNvSpPr txBox="1"/>
          <p:nvPr/>
        </p:nvSpPr>
        <p:spPr>
          <a:xfrm>
            <a:off x="342900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その作業を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頼んだとき</a:t>
            </a:r>
            <a:endParaRPr lang="en-US" sz="1250" dirty="0"/>
          </a:p>
        </p:txBody>
      </p:sp>
      <p:sp>
        <p:nvSpPr>
          <p:cNvPr id="16" name="card-body"/>
          <p:cNvSpPr txBox="1"/>
          <p:nvPr/>
        </p:nvSpPr>
        <p:spPr>
          <a:xfrm>
            <a:off x="342900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&lt;名前&gt;/SKILL.md</a:t>
            </a:r>
            <a:endParaRPr lang="en-US" sz="1050" dirty="0"/>
          </a:p>
        </p:txBody>
      </p:sp>
      <p:sp>
        <p:nvSpPr>
          <p:cNvPr id="17" name="card"/>
          <p:cNvSpPr/>
          <p:nvPr/>
        </p:nvSpPr>
        <p:spPr>
          <a:xfrm>
            <a:off x="5166360" y="1005840"/>
            <a:ext cx="1691640" cy="3611880"/>
          </a:xfrm>
          <a:prstGeom prst="roundRect">
            <a:avLst>
              <a:gd name="adj" fmla="val 5405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8" name="card-head"/>
          <p:cNvSpPr txBox="1"/>
          <p:nvPr/>
        </p:nvSpPr>
        <p:spPr>
          <a:xfrm>
            <a:off x="5257800" y="1097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カスタム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エージェント</a:t>
            </a:r>
            <a:endParaRPr lang="en-US" sz="1500" dirty="0"/>
          </a:p>
        </p:txBody>
      </p:sp>
      <p:sp>
        <p:nvSpPr>
          <p:cNvPr id="19" name="card-body"/>
          <p:cNvSpPr txBox="1"/>
          <p:nvPr/>
        </p:nvSpPr>
        <p:spPr>
          <a:xfrm>
            <a:off x="5257800" y="18288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役割を決めた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助っ人</a:t>
            </a:r>
            <a:endParaRPr lang="en-US" sz="1250" dirty="0"/>
          </a:p>
        </p:txBody>
      </p:sp>
      <p:sp>
        <p:nvSpPr>
          <p:cNvPr id="20" name="card-body"/>
          <p:cNvSpPr txBox="1"/>
          <p:nvPr/>
        </p:nvSpPr>
        <p:spPr>
          <a:xfrm>
            <a:off x="525780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呼んだとき</a:t>
            </a:r>
            <a:endParaRPr lang="en-US" sz="1250" dirty="0"/>
          </a:p>
        </p:txBody>
      </p:sp>
      <p:sp>
        <p:nvSpPr>
          <p:cNvPr id="21" name="card-body"/>
          <p:cNvSpPr txBox="1"/>
          <p:nvPr/>
        </p:nvSpPr>
        <p:spPr>
          <a:xfrm>
            <a:off x="525780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&lt;名前&gt;.agent.md</a:t>
            </a:r>
            <a:endParaRPr lang="en-US" sz="1050" dirty="0"/>
          </a:p>
        </p:txBody>
      </p:sp>
      <p:sp>
        <p:nvSpPr>
          <p:cNvPr id="22" name="card"/>
          <p:cNvSpPr/>
          <p:nvPr/>
        </p:nvSpPr>
        <p:spPr>
          <a:xfrm>
            <a:off x="6995160" y="1005840"/>
            <a:ext cx="1691640" cy="3611880"/>
          </a:xfrm>
          <a:prstGeom prst="roundRect">
            <a:avLst>
              <a:gd name="adj" fmla="val 5405"/>
            </a:avLst>
          </a:prstGeom>
          <a:solidFill>
            <a:srgbClr val="F3E5F5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23" name="card-head"/>
          <p:cNvSpPr txBox="1"/>
          <p:nvPr/>
        </p:nvSpPr>
        <p:spPr>
          <a:xfrm>
            <a:off x="7086600" y="1097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1FA2"/>
                </a:solidFill>
              </a:rPr>
              <a:t>MCP</a:t>
            </a:r>
            <a:endParaRPr lang="en-US" sz="1500" dirty="0"/>
          </a:p>
        </p:txBody>
      </p:sp>
      <p:sp>
        <p:nvSpPr>
          <p:cNvPr id="24" name="card-body"/>
          <p:cNvSpPr txBox="1"/>
          <p:nvPr/>
        </p:nvSpPr>
        <p:spPr>
          <a:xfrm>
            <a:off x="7086600" y="18288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外のサービスと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つなぐ口</a:t>
            </a:r>
            <a:endParaRPr lang="en-US" sz="1250" dirty="0"/>
          </a:p>
        </p:txBody>
      </p:sp>
      <p:sp>
        <p:nvSpPr>
          <p:cNvPr id="25" name="card-body"/>
          <p:cNvSpPr txBox="1"/>
          <p:nvPr/>
        </p:nvSpPr>
        <p:spPr>
          <a:xfrm>
            <a:off x="708660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そのサービスを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使うとき</a:t>
            </a:r>
            <a:endParaRPr lang="en-US" sz="1250" dirty="0"/>
          </a:p>
        </p:txBody>
      </p:sp>
      <p:sp>
        <p:nvSpPr>
          <p:cNvPr id="26" name="card-body"/>
          <p:cNvSpPr txBox="1"/>
          <p:nvPr/>
        </p:nvSpPr>
        <p:spPr>
          <a:xfrm>
            <a:off x="708660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画面かコマンドで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追加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どれを使うか迷ったら</a:t>
            </a:r>
            <a:endParaRPr lang="en-US" sz="2400" dirty="0"/>
          </a:p>
        </p:txBody>
      </p:sp>
      <p:sp>
        <p:nvSpPr>
          <p:cNvPr id="4" name="box"/>
          <p:cNvSpPr/>
          <p:nvPr/>
        </p:nvSpPr>
        <p:spPr>
          <a:xfrm>
            <a:off x="457200" y="11887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5875">
            <a:solidFill>
              <a:srgbClr val="BCCCDC"/>
            </a:solidFill>
            <a:prstDash val="solid"/>
          </a:ln>
        </p:spPr>
      </p:sp>
      <p:sp>
        <p:nvSpPr>
          <p:cNvPr id="5" name="box-text"/>
          <p:cNvSpPr txBox="1"/>
          <p:nvPr/>
        </p:nvSpPr>
        <p:spPr>
          <a:xfrm>
            <a:off x="530352" y="118872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毎回守って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ほしい?</a:t>
            </a:r>
            <a:endParaRPr lang="en-US" sz="1250" dirty="0"/>
          </a:p>
        </p:txBody>
      </p:sp>
      <p:sp>
        <p:nvSpPr>
          <p:cNvPr id="6" name="arrow"/>
          <p:cNvSpPr/>
          <p:nvPr/>
        </p:nvSpPr>
        <p:spPr>
          <a:xfrm>
            <a:off x="1120140" y="2103120"/>
            <a:ext cx="0" cy="777240"/>
          </a:xfrm>
          <a:prstGeom prst="line">
            <a:avLst/>
          </a:prstGeom>
          <a:noFill/>
          <a:ln w="22225">
            <a:solidFill>
              <a:srgbClr val="1E88E5"/>
            </a:solidFill>
            <a:prstDash val="solid"/>
            <a:tailEnd type="triangle"/>
          </a:ln>
        </p:spPr>
      </p:sp>
      <p:sp>
        <p:nvSpPr>
          <p:cNvPr id="7" name="label"/>
          <p:cNvSpPr txBox="1"/>
          <p:nvPr/>
        </p:nvSpPr>
        <p:spPr>
          <a:xfrm>
            <a:off x="1175004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はい</a:t>
            </a:r>
            <a:endParaRPr lang="en-US" sz="1100" dirty="0"/>
          </a:p>
        </p:txBody>
      </p:sp>
      <p:sp>
        <p:nvSpPr>
          <p:cNvPr id="8" name="box"/>
          <p:cNvSpPr/>
          <p:nvPr/>
        </p:nvSpPr>
        <p:spPr>
          <a:xfrm>
            <a:off x="457200" y="2880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1E88E5"/>
          </a:solidFill>
          <a:ln w="15875">
            <a:solidFill>
              <a:srgbClr val="1E88E5"/>
            </a:solidFill>
            <a:prstDash val="solid"/>
          </a:ln>
        </p:spPr>
      </p:sp>
      <p:sp>
        <p:nvSpPr>
          <p:cNvPr id="9" name="box-text"/>
          <p:cNvSpPr txBox="1"/>
          <p:nvPr/>
        </p:nvSpPr>
        <p:spPr>
          <a:xfrm>
            <a:off x="530352" y="288036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指示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1783080" y="1645920"/>
            <a:ext cx="393192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1" name="label"/>
          <p:cNvSpPr txBox="1"/>
          <p:nvPr/>
        </p:nvSpPr>
        <p:spPr>
          <a:xfrm>
            <a:off x="1783080" y="1371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いいえ</a:t>
            </a:r>
            <a:endParaRPr lang="en-US" sz="900" dirty="0"/>
          </a:p>
        </p:txBody>
      </p:sp>
      <p:sp>
        <p:nvSpPr>
          <p:cNvPr id="12" name="box"/>
          <p:cNvSpPr/>
          <p:nvPr/>
        </p:nvSpPr>
        <p:spPr>
          <a:xfrm>
            <a:off x="2176272" y="11887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5875">
            <a:solidFill>
              <a:srgbClr val="BCCCDC"/>
            </a:solidFill>
            <a:prstDash val="solid"/>
          </a:ln>
        </p:spPr>
      </p:sp>
      <p:sp>
        <p:nvSpPr>
          <p:cNvPr id="13" name="box-text"/>
          <p:cNvSpPr txBox="1"/>
          <p:nvPr/>
        </p:nvSpPr>
        <p:spPr>
          <a:xfrm>
            <a:off x="2249424" y="118872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決まった作業の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手順?</a:t>
            </a:r>
            <a:endParaRPr lang="en-US" sz="1250" dirty="0"/>
          </a:p>
        </p:txBody>
      </p:sp>
      <p:sp>
        <p:nvSpPr>
          <p:cNvPr id="14" name="arrow"/>
          <p:cNvSpPr/>
          <p:nvPr/>
        </p:nvSpPr>
        <p:spPr>
          <a:xfrm>
            <a:off x="2839212" y="2103120"/>
            <a:ext cx="0" cy="777240"/>
          </a:xfrm>
          <a:prstGeom prst="line">
            <a:avLst/>
          </a:prstGeom>
          <a:noFill/>
          <a:ln w="22225">
            <a:solidFill>
              <a:srgbClr val="43A047"/>
            </a:solidFill>
            <a:prstDash val="solid"/>
            <a:tailEnd type="triangle"/>
          </a:ln>
        </p:spPr>
      </p:sp>
      <p:sp>
        <p:nvSpPr>
          <p:cNvPr id="15" name="label"/>
          <p:cNvSpPr txBox="1"/>
          <p:nvPr/>
        </p:nvSpPr>
        <p:spPr>
          <a:xfrm>
            <a:off x="2894076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はい</a:t>
            </a:r>
            <a:endParaRPr lang="en-US" sz="1100" dirty="0"/>
          </a:p>
        </p:txBody>
      </p:sp>
      <p:sp>
        <p:nvSpPr>
          <p:cNvPr id="16" name="box"/>
          <p:cNvSpPr/>
          <p:nvPr/>
        </p:nvSpPr>
        <p:spPr>
          <a:xfrm>
            <a:off x="2176272" y="2880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 w="15875">
            <a:solidFill>
              <a:srgbClr val="43A047"/>
            </a:solidFill>
            <a:prstDash val="solid"/>
          </a:ln>
        </p:spPr>
      </p:sp>
      <p:sp>
        <p:nvSpPr>
          <p:cNvPr id="17" name="box-text"/>
          <p:cNvSpPr txBox="1"/>
          <p:nvPr/>
        </p:nvSpPr>
        <p:spPr>
          <a:xfrm>
            <a:off x="2249424" y="288036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スキル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3502152" y="1645920"/>
            <a:ext cx="393192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9" name="label"/>
          <p:cNvSpPr txBox="1"/>
          <p:nvPr/>
        </p:nvSpPr>
        <p:spPr>
          <a:xfrm>
            <a:off x="3502152" y="1371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いいえ</a:t>
            </a:r>
            <a:endParaRPr lang="en-US" sz="900" dirty="0"/>
          </a:p>
        </p:txBody>
      </p:sp>
      <p:sp>
        <p:nvSpPr>
          <p:cNvPr id="20" name="box"/>
          <p:cNvSpPr/>
          <p:nvPr/>
        </p:nvSpPr>
        <p:spPr>
          <a:xfrm>
            <a:off x="3895344" y="11887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5875">
            <a:solidFill>
              <a:srgbClr val="BCCCDC"/>
            </a:solidFill>
            <a:prstDash val="solid"/>
          </a:ln>
        </p:spPr>
      </p:sp>
      <p:sp>
        <p:nvSpPr>
          <p:cNvPr id="21" name="box-text"/>
          <p:cNvSpPr txBox="1"/>
          <p:nvPr/>
        </p:nvSpPr>
        <p:spPr>
          <a:xfrm>
            <a:off x="3968496" y="118872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役割ごと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分けたい?</a:t>
            </a:r>
            <a:endParaRPr lang="en-US" sz="1250" dirty="0"/>
          </a:p>
        </p:txBody>
      </p:sp>
      <p:sp>
        <p:nvSpPr>
          <p:cNvPr id="22" name="arrow"/>
          <p:cNvSpPr/>
          <p:nvPr/>
        </p:nvSpPr>
        <p:spPr>
          <a:xfrm>
            <a:off x="4558284" y="2103120"/>
            <a:ext cx="0" cy="777240"/>
          </a:xfrm>
          <a:prstGeom prst="line">
            <a:avLst/>
          </a:prstGeom>
          <a:noFill/>
          <a:ln w="22225">
            <a:solidFill>
              <a:srgbClr val="FB8C00"/>
            </a:solidFill>
            <a:prstDash val="solid"/>
            <a:tailEnd type="triangle"/>
          </a:ln>
        </p:spPr>
      </p:sp>
      <p:sp>
        <p:nvSpPr>
          <p:cNvPr id="23" name="label"/>
          <p:cNvSpPr txBox="1"/>
          <p:nvPr/>
        </p:nvSpPr>
        <p:spPr>
          <a:xfrm>
            <a:off x="4613148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はい</a:t>
            </a:r>
            <a:endParaRPr lang="en-US" sz="1100" dirty="0"/>
          </a:p>
        </p:txBody>
      </p:sp>
      <p:sp>
        <p:nvSpPr>
          <p:cNvPr id="24" name="box"/>
          <p:cNvSpPr/>
          <p:nvPr/>
        </p:nvSpPr>
        <p:spPr>
          <a:xfrm>
            <a:off x="3895344" y="2880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B8C00"/>
          </a:solidFill>
          <a:ln w="15875">
            <a:solidFill>
              <a:srgbClr val="FB8C00"/>
            </a:solidFill>
            <a:prstDash val="solid"/>
          </a:ln>
        </p:spPr>
      </p:sp>
      <p:sp>
        <p:nvSpPr>
          <p:cNvPr id="25" name="box-text"/>
          <p:cNvSpPr txBox="1"/>
          <p:nvPr/>
        </p:nvSpPr>
        <p:spPr>
          <a:xfrm>
            <a:off x="3968496" y="288036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カスタム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エージェント</a:t>
            </a:r>
            <a:endParaRPr lang="en-US" sz="1400" dirty="0"/>
          </a:p>
        </p:txBody>
      </p:sp>
      <p:sp>
        <p:nvSpPr>
          <p:cNvPr id="26" name="arrow"/>
          <p:cNvSpPr/>
          <p:nvPr/>
        </p:nvSpPr>
        <p:spPr>
          <a:xfrm>
            <a:off x="5221224" y="1645920"/>
            <a:ext cx="393192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7" name="label"/>
          <p:cNvSpPr txBox="1"/>
          <p:nvPr/>
        </p:nvSpPr>
        <p:spPr>
          <a:xfrm>
            <a:off x="5221224" y="1371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いいえ</a:t>
            </a:r>
            <a:endParaRPr lang="en-US" sz="900" dirty="0"/>
          </a:p>
        </p:txBody>
      </p:sp>
      <p:sp>
        <p:nvSpPr>
          <p:cNvPr id="28" name="box"/>
          <p:cNvSpPr/>
          <p:nvPr/>
        </p:nvSpPr>
        <p:spPr>
          <a:xfrm>
            <a:off x="5614416" y="11887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5875">
            <a:solidFill>
              <a:srgbClr val="BCCCDC"/>
            </a:solidFill>
            <a:prstDash val="solid"/>
          </a:ln>
        </p:spPr>
      </p:sp>
      <p:sp>
        <p:nvSpPr>
          <p:cNvPr id="29" name="box-text"/>
          <p:cNvSpPr txBox="1"/>
          <p:nvPr/>
        </p:nvSpPr>
        <p:spPr>
          <a:xfrm>
            <a:off x="5687568" y="118872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外のサービスに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触りたい?</a:t>
            </a:r>
            <a:endParaRPr lang="en-US" sz="1250" dirty="0"/>
          </a:p>
        </p:txBody>
      </p:sp>
      <p:sp>
        <p:nvSpPr>
          <p:cNvPr id="30" name="arrow"/>
          <p:cNvSpPr/>
          <p:nvPr/>
        </p:nvSpPr>
        <p:spPr>
          <a:xfrm>
            <a:off x="6277356" y="2103120"/>
            <a:ext cx="0" cy="777240"/>
          </a:xfrm>
          <a:prstGeom prst="line">
            <a:avLst/>
          </a:prstGeom>
          <a:noFill/>
          <a:ln w="22225">
            <a:solidFill>
              <a:srgbClr val="8E24AA"/>
            </a:solidFill>
            <a:prstDash val="solid"/>
            <a:tailEnd type="triangle"/>
          </a:ln>
        </p:spPr>
      </p:sp>
      <p:sp>
        <p:nvSpPr>
          <p:cNvPr id="31" name="label"/>
          <p:cNvSpPr txBox="1"/>
          <p:nvPr/>
        </p:nvSpPr>
        <p:spPr>
          <a:xfrm>
            <a:off x="633222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</a:rPr>
              <a:t>はい</a:t>
            </a:r>
            <a:endParaRPr lang="en-US" sz="1100" dirty="0"/>
          </a:p>
        </p:txBody>
      </p:sp>
      <p:sp>
        <p:nvSpPr>
          <p:cNvPr id="32" name="box"/>
          <p:cNvSpPr/>
          <p:nvPr/>
        </p:nvSpPr>
        <p:spPr>
          <a:xfrm>
            <a:off x="5614416" y="2880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8E24AA"/>
          </a:solidFill>
          <a:ln w="15875">
            <a:solidFill>
              <a:srgbClr val="8E24AA"/>
            </a:solidFill>
            <a:prstDash val="solid"/>
          </a:ln>
        </p:spPr>
      </p:sp>
      <p:sp>
        <p:nvSpPr>
          <p:cNvPr id="33" name="box-text"/>
          <p:cNvSpPr txBox="1"/>
          <p:nvPr/>
        </p:nvSpPr>
        <p:spPr>
          <a:xfrm>
            <a:off x="5687568" y="288036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MCP</a:t>
            </a:r>
            <a:endParaRPr lang="en-US" sz="1400" dirty="0"/>
          </a:p>
        </p:txBody>
      </p:sp>
      <p:sp>
        <p:nvSpPr>
          <p:cNvPr id="34" name="arrow"/>
          <p:cNvSpPr/>
          <p:nvPr/>
        </p:nvSpPr>
        <p:spPr>
          <a:xfrm>
            <a:off x="6940296" y="1645920"/>
            <a:ext cx="393192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35" name="label"/>
          <p:cNvSpPr txBox="1"/>
          <p:nvPr/>
        </p:nvSpPr>
        <p:spPr>
          <a:xfrm>
            <a:off x="6940296" y="1371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いいえ</a:t>
            </a:r>
            <a:endParaRPr lang="en-US" sz="900" dirty="0"/>
          </a:p>
        </p:txBody>
      </p:sp>
      <p:sp>
        <p:nvSpPr>
          <p:cNvPr id="36" name="box"/>
          <p:cNvSpPr/>
          <p:nvPr/>
        </p:nvSpPr>
        <p:spPr>
          <a:xfrm>
            <a:off x="7333488" y="11887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AA5B1"/>
            </a:solidFill>
            <a:prstDash val="solid"/>
          </a:ln>
        </p:spPr>
      </p:sp>
      <p:sp>
        <p:nvSpPr>
          <p:cNvPr id="37" name="box-text"/>
          <p:cNvSpPr txBox="1"/>
          <p:nvPr/>
        </p:nvSpPr>
        <p:spPr>
          <a:xfrm>
            <a:off x="7406640" y="118872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何も作らず、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その場で頼めば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十分</a:t>
            </a:r>
            <a:endParaRPr lang="en-US" sz="1200" dirty="0"/>
          </a:p>
        </p:txBody>
      </p:sp>
      <p:sp>
        <p:nvSpPr>
          <p:cNvPr id="38" name="text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迷いやすいのは指示とスキル。「いつも」なら指示、「〜するときは」ならスキル。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chip-label"/>
          <p:cNvSpPr txBox="1"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指示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いつも守ってほしい約束ごと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1. 指示: リポジトリの約束ごとメモ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960120"/>
            <a:ext cx="3291840" cy="3611880"/>
          </a:xfrm>
          <a:prstGeom prst="roundRect">
            <a:avLst>
              <a:gd name="adj" fmla="val 2222"/>
            </a:avLst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card-head"/>
          <p:cNvSpPr txBox="1"/>
          <p:nvPr/>
        </p:nvSpPr>
        <p:spPr>
          <a:xfrm>
            <a:off x="594360" y="10698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</a:rPr>
              <a:t>これは何</a:t>
            </a:r>
            <a:endParaRPr lang="en-US" sz="1500" dirty="0"/>
          </a:p>
        </p:txBody>
      </p:sp>
      <p:sp>
        <p:nvSpPr>
          <p:cNvPr id="6" name="list"/>
          <p:cNvSpPr txBox="1"/>
          <p:nvPr/>
        </p:nvSpPr>
        <p:spPr>
          <a:xfrm>
            <a:off x="640080" y="146304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リポジトリのいちばん上に AGENTS.md を置く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エージェントは会話を始めるたびに、最初にそれを読む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新しく入った人に渡す「約束ごとメモ」と同じ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Copilot 以外の多くのエージェントも読む共通の名前</a:t>
            </a:r>
            <a:endParaRPr lang="en-US" sz="1450" dirty="0"/>
          </a:p>
        </p:txBody>
      </p:sp>
      <p:sp>
        <p:nvSpPr>
          <p:cNvPr id="7" name="label"/>
          <p:cNvSpPr txBox="1"/>
          <p:nvPr/>
        </p:nvSpPr>
        <p:spPr>
          <a:xfrm>
            <a:off x="4023360" y="960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例: AGENTS.md</a:t>
            </a:r>
            <a:endParaRPr lang="en-US" sz="1100" dirty="0"/>
          </a:p>
        </p:txBody>
      </p:sp>
      <p:sp>
        <p:nvSpPr>
          <p:cNvPr id="8" name="code-bg"/>
          <p:cNvSpPr/>
          <p:nvPr/>
        </p:nvSpPr>
        <p:spPr>
          <a:xfrm>
            <a:off x="4023360" y="1280160"/>
            <a:ext cx="4663440" cy="3291840"/>
          </a:xfrm>
          <a:prstGeom prst="roundRect">
            <a:avLst>
              <a:gd name="adj" fmla="val 1667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4160520" y="137160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このリポジトリの約束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ビルドは `cmake --build build`、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テストは `ctest --test-dir build`。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両方通ってから「完了」と言う。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返事は日本語で。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コミットはしない。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人が確認してからする。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分からないことは推測で進めず、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質問する。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1. 指示: 作る・確かめる・コツ</a:t>
            </a:r>
            <a:endParaRPr lang="en-US" sz="2400" dirty="0"/>
          </a:p>
        </p:txBody>
      </p:sp>
      <p:sp>
        <p:nvSpPr>
          <p:cNvPr id="4" name="label"/>
          <p:cNvSpPr txBox="1"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① エージェントに頼んで下書きを出してもらう</a:t>
            </a:r>
            <a:endParaRPr lang="en-US" sz="1100" dirty="0"/>
          </a:p>
        </p:txBody>
      </p:sp>
      <p:sp>
        <p:nvSpPr>
          <p:cNvPr id="5" name="code-bg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594360" y="13716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このリポジトリを読んで、AGENTS.md 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下書きを作って。ビルドとテストのコマンド、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触ってはいけない場所、報告のしかたを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短く。20 行以内で。</a:t>
            </a:r>
            <a:endParaRPr lang="en-US" sz="1200" dirty="0"/>
          </a:p>
        </p:txBody>
      </p:sp>
      <p:sp>
        <p:nvSpPr>
          <p:cNvPr id="7" name="label"/>
          <p:cNvSpPr txBox="1"/>
          <p:nvPr/>
        </p:nvSpPr>
        <p:spPr>
          <a:xfrm>
            <a:off x="45720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② 効いているか確かめる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457200" y="31546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card-body"/>
          <p:cNvSpPr txBox="1"/>
          <p:nvPr/>
        </p:nvSpPr>
        <p:spPr>
          <a:xfrm>
            <a:off x="594360" y="3282696"/>
            <a:ext cx="3749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新しい会話を開いて、約束に反することを頼む(例:「コミットして」)。断られたら効いている。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ファイルを直したら、新しい会話で試す。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754880" y="9601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card-head"/>
          <p:cNvSpPr txBox="1"/>
          <p:nvPr/>
        </p:nvSpPr>
        <p:spPr>
          <a:xfrm>
            <a:off x="4892040" y="1069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</a:rPr>
              <a:t>コツは 3 つ</a:t>
            </a:r>
            <a:endParaRPr lang="en-US" sz="1500" dirty="0"/>
          </a:p>
        </p:txBody>
      </p:sp>
      <p:sp>
        <p:nvSpPr>
          <p:cNvPr id="12" name="list"/>
          <p:cNvSpPr txBox="1"/>
          <p:nvPr/>
        </p:nvSpPr>
        <p:spPr>
          <a:xfrm>
            <a:off x="4937760" y="150876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短く。毎回読まれるので、長いほど遅く・高くなる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「いつも」のことだけ。手順はスキルへ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同じことを 2 か所に書かない</a:t>
            </a:r>
            <a:endParaRPr lang="en-US" sz="1450" dirty="0"/>
          </a:p>
        </p:txBody>
      </p:sp>
      <p:sp>
        <p:nvSpPr>
          <p:cNvPr id="13" name="card"/>
          <p:cNvSpPr/>
          <p:nvPr/>
        </p:nvSpPr>
        <p:spPr>
          <a:xfrm>
            <a:off x="4754880" y="34290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card-head"/>
          <p:cNvSpPr txBox="1"/>
          <p:nvPr/>
        </p:nvSpPr>
        <p:spPr>
          <a:xfrm>
            <a:off x="4892040" y="3538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育て方</a:t>
            </a:r>
            <a:endParaRPr lang="en-US" sz="1500" dirty="0"/>
          </a:p>
        </p:txBody>
      </p:sp>
      <p:sp>
        <p:nvSpPr>
          <p:cNvPr id="15" name="card-body"/>
          <p:cNvSpPr txBox="1"/>
          <p:nvPr/>
        </p:nvSpPr>
        <p:spPr>
          <a:xfrm>
            <a:off x="489204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同じ間違いを 2 回されたら 1 行足す。守らなくてよくなった行は消す。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chip-label"/>
          <p:cNvSpPr txBox="1"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スキル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特定の作業の手順書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2. スキル: 必要なときだけ読まれる手順書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960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card-head"/>
          <p:cNvSpPr txBox="1"/>
          <p:nvPr/>
        </p:nvSpPr>
        <p:spPr>
          <a:xfrm>
            <a:off x="594360" y="10698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これは何</a:t>
            </a:r>
            <a:endParaRPr lang="en-US" sz="1500" dirty="0"/>
          </a:p>
        </p:txBody>
      </p:sp>
      <p:sp>
        <p:nvSpPr>
          <p:cNvPr id="6" name="list"/>
          <p:cNvSpPr txBox="1"/>
          <p:nvPr/>
        </p:nvSpPr>
        <p:spPr>
          <a:xfrm>
            <a:off x="640080" y="14630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「この作業はこうやる」の手順書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普段は名前と説明文だけを見ていて、依頼が合ったときに中身を読む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共通の規格。他のエージェントでも使える</a:t>
            </a:r>
            <a:endParaRPr lang="en-US" sz="1350" dirty="0"/>
          </a:p>
        </p:txBody>
      </p:sp>
      <p:sp>
        <p:nvSpPr>
          <p:cNvPr id="7" name="label"/>
          <p:cNvSpPr txBox="1"/>
          <p:nvPr/>
        </p:nvSpPr>
        <p:spPr>
          <a:xfrm>
            <a:off x="45720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置き場(フォルダ名 = スキルの名前)</a:t>
            </a:r>
            <a:endParaRPr lang="en-US" sz="1100" dirty="0"/>
          </a:p>
        </p:txBody>
      </p:sp>
      <p:sp>
        <p:nvSpPr>
          <p:cNvPr id="8" name="code-bg"/>
          <p:cNvSpPr/>
          <p:nvPr/>
        </p:nvSpPr>
        <p:spPr>
          <a:xfrm>
            <a:off x="457200" y="352044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59436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build-and-test/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SKILL.md</a:t>
            </a:r>
            <a:endParaRPr lang="en-US" sz="1100" dirty="0"/>
          </a:p>
        </p:txBody>
      </p:sp>
      <p:sp>
        <p:nvSpPr>
          <p:cNvPr id="10" name="label"/>
          <p:cNvSpPr txBox="1"/>
          <p:nvPr/>
        </p:nvSpPr>
        <p:spPr>
          <a:xfrm>
            <a:off x="4023360" y="960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例: SKILL.md</a:t>
            </a:r>
            <a:endParaRPr lang="en-US" sz="1100" dirty="0"/>
          </a:p>
        </p:txBody>
      </p:sp>
      <p:sp>
        <p:nvSpPr>
          <p:cNvPr id="11" name="code-bg"/>
          <p:cNvSpPr/>
          <p:nvPr/>
        </p:nvSpPr>
        <p:spPr>
          <a:xfrm>
            <a:off x="4023360" y="1280160"/>
            <a:ext cx="4663440" cy="3337560"/>
          </a:xfrm>
          <a:prstGeom prst="roundRect">
            <a:avLst>
              <a:gd name="adj" fmla="val 1644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code"/>
          <p:cNvSpPr txBox="1"/>
          <p:nvPr/>
        </p:nvSpPr>
        <p:spPr>
          <a:xfrm>
            <a:off x="4160520" y="1371600"/>
            <a:ext cx="43891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build-and-test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ビルドやテストを頼まれたとき、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またはビルドが失敗した原因を調べるときに使う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(例:「ビルドして」「テストを回して」)。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新しいテストを書く作業には使わない。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ビルドとテスト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cmake --build build を実行する。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失敗したら最後の 20 行を見せて止まる。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ctest で成功と失敗の数を報告する。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テストのコードは変えない。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2. スキル: いちばん大事なのは説明文(description)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説明文は「中身の要約」ではなく、どんな依頼のときに使うかを書く。</a:t>
            </a:r>
            <a:endParaRPr lang="en-US" sz="15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よくない(中身の要約)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よい(使う場面)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ビルドとテストの手順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ビルドやテストを頼まれたときに使う(例:「ビルドして」)。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新しいテストを書く作業には使わない。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594360" y="31272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書くこと</a:t>
            </a:r>
            <a:endParaRPr lang="en-US" sz="1500" dirty="0"/>
          </a:p>
        </p:txBody>
      </p:sp>
      <p:sp>
        <p:nvSpPr>
          <p:cNvPr id="8" name="list"/>
          <p:cNvSpPr txBox="1"/>
          <p:nvPr/>
        </p:nvSpPr>
        <p:spPr>
          <a:xfrm>
            <a:off x="640080" y="35204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普段の頼み方をそのまま入れる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使わない場面も 1 つ書く(似たスキルと取り合わない)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card-head"/>
          <p:cNvSpPr txBox="1"/>
          <p:nvPr/>
        </p:nvSpPr>
        <p:spPr>
          <a:xfrm>
            <a:off x="4800600" y="31272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呼ばれないときは</a:t>
            </a:r>
            <a:endParaRPr lang="en-US" sz="1500" dirty="0"/>
          </a:p>
        </p:txBody>
      </p:sp>
      <p:sp>
        <p:nvSpPr>
          <p:cNvPr id="11" name="card-body"/>
          <p:cNvSpPr txBox="1"/>
          <p:nvPr/>
        </p:nvSpPr>
        <p:spPr>
          <a:xfrm>
            <a:off x="480060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直すのは本文ではなく説明文。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呼ばれなかった頼み方を説明文に足す。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2. スキル: 作る・確かめる・コツ</a:t>
            </a:r>
            <a:endParaRPr lang="en-US" sz="2400" dirty="0"/>
          </a:p>
        </p:txBody>
      </p:sp>
      <p:sp>
        <p:nvSpPr>
          <p:cNvPr id="4" name="label"/>
          <p:cNvSpPr txBox="1"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① エージェントに頼んで下書きを出してもらう</a:t>
            </a:r>
            <a:endParaRPr lang="en-US" sz="1100" dirty="0"/>
          </a:p>
        </p:txBody>
      </p:sp>
      <p:sp>
        <p:nvSpPr>
          <p:cNvPr id="5" name="code-bg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594360" y="13716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「〇〇」の作業をスキルにしたい。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.github/skills/〇〇/SKILL.md を作って。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には、どんな依頼のときに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使うかと、使わない場面を書いて。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本文は手順を短く。</a:t>
            </a:r>
            <a:endParaRPr lang="en-US" sz="1200" dirty="0"/>
          </a:p>
        </p:txBody>
      </p:sp>
      <p:sp>
        <p:nvSpPr>
          <p:cNvPr id="7" name="label"/>
          <p:cNvSpPr txBox="1"/>
          <p:nvPr/>
        </p:nvSpPr>
        <p:spPr>
          <a:xfrm>
            <a:off x="45720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② 効いているか確かめる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457200" y="31546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card-body"/>
          <p:cNvSpPr txBox="1"/>
          <p:nvPr/>
        </p:nvSpPr>
        <p:spPr>
          <a:xfrm>
            <a:off x="594360" y="3282696"/>
            <a:ext cx="3749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使ってほしい頼み方で依頼し、スキルを読み込んだ表示が出れば OK。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/スキル名 で直接呼べる。一覧はアプリの Customize → Skills か、CLI の /skills list。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754880" y="9601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card-head"/>
          <p:cNvSpPr txBox="1"/>
          <p:nvPr/>
        </p:nvSpPr>
        <p:spPr>
          <a:xfrm>
            <a:off x="4892040" y="1069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コツは 3 つ</a:t>
            </a:r>
            <a:endParaRPr lang="en-US" sz="1500" dirty="0"/>
          </a:p>
        </p:txBody>
      </p:sp>
      <p:sp>
        <p:nvSpPr>
          <p:cNvPr id="12" name="list"/>
          <p:cNvSpPr txBox="1"/>
          <p:nvPr/>
        </p:nvSpPr>
        <p:spPr>
          <a:xfrm>
            <a:off x="4937760" y="150876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1 つのスキルに 1 つの作業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増やしすぎない。使っていないものは消す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毎回守ってほしいことなら指示へ</a:t>
            </a:r>
            <a:endParaRPr lang="en-US" sz="1450" dirty="0"/>
          </a:p>
        </p:txBody>
      </p:sp>
      <p:sp>
        <p:nvSpPr>
          <p:cNvPr id="13" name="card"/>
          <p:cNvSpPr/>
          <p:nvPr/>
        </p:nvSpPr>
        <p:spPr>
          <a:xfrm>
            <a:off x="4754880" y="34290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card-head"/>
          <p:cNvSpPr txBox="1"/>
          <p:nvPr/>
        </p:nvSpPr>
        <p:spPr>
          <a:xfrm>
            <a:off x="4892040" y="3538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育て方</a:t>
            </a:r>
            <a:endParaRPr lang="en-US" sz="1500" dirty="0"/>
          </a:p>
        </p:txBody>
      </p:sp>
      <p:sp>
        <p:nvSpPr>
          <p:cNvPr id="15" name="card-body"/>
          <p:cNvSpPr txBox="1"/>
          <p:nvPr/>
        </p:nvSpPr>
        <p:spPr>
          <a:xfrm>
            <a:off x="489204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呼ばれなかったら、その頼み方を説明文に足す。呼ばれなくていいのに呼ばれたら「〜には使わない」を足す。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" name="chip-label"/>
          <p:cNvSpPr txBox="1"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カスタムエージェント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役割を決めた助っ人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3. カスタムエージェント: 役割を決めた助っ人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96012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" name="card-head"/>
          <p:cNvSpPr txBox="1"/>
          <p:nvPr/>
        </p:nvSpPr>
        <p:spPr>
          <a:xfrm>
            <a:off x="594360" y="10698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これは何</a:t>
            </a:r>
            <a:endParaRPr lang="en-US" sz="1500" dirty="0"/>
          </a:p>
        </p:txBody>
      </p:sp>
      <p:sp>
        <p:nvSpPr>
          <p:cNvPr id="6" name="list"/>
          <p:cNvSpPr txBox="1"/>
          <p:nvPr/>
        </p:nvSpPr>
        <p:spPr>
          <a:xfrm>
            <a:off x="640080" y="14630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役割・守ること・使える道具を決めたエージェント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自分で選んで話しかけるか、いつものエージェントに任せてもらう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任された側は別の会話で動く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457200" y="34747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card-head"/>
          <p:cNvSpPr txBox="1"/>
          <p:nvPr/>
        </p:nvSpPr>
        <p:spPr>
          <a:xfrm>
            <a:off x="594360" y="35844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使い方</a:t>
            </a:r>
            <a:endParaRPr lang="en-US" sz="1500" dirty="0"/>
          </a:p>
        </p:txBody>
      </p:sp>
      <p:sp>
        <p:nvSpPr>
          <p:cNvPr id="9" name="card-body"/>
          <p:cNvSpPr txBox="1"/>
          <p:nvPr/>
        </p:nvSpPr>
        <p:spPr>
          <a:xfrm>
            <a:off x="594360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/agent で一覧から選ぶか、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依頼の中で名前を出す(「reviewer に確認させて」)</a:t>
            </a:r>
            <a:endParaRPr lang="en-US" sz="1200" dirty="0"/>
          </a:p>
        </p:txBody>
      </p:sp>
      <p:sp>
        <p:nvSpPr>
          <p:cNvPr id="10" name="label"/>
          <p:cNvSpPr txBox="1"/>
          <p:nvPr/>
        </p:nvSpPr>
        <p:spPr>
          <a:xfrm>
            <a:off x="4023360" y="960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例: .github/agents/reviewer.agent.md</a:t>
            </a:r>
            <a:endParaRPr lang="en-US" sz="1100" dirty="0"/>
          </a:p>
        </p:txBody>
      </p:sp>
      <p:sp>
        <p:nvSpPr>
          <p:cNvPr id="11" name="code-bg"/>
          <p:cNvSpPr/>
          <p:nvPr/>
        </p:nvSpPr>
        <p:spPr>
          <a:xfrm>
            <a:off x="4023360" y="1280160"/>
            <a:ext cx="4663440" cy="2514600"/>
          </a:xfrm>
          <a:prstGeom prst="roundRect">
            <a:avLst>
              <a:gd name="adj" fmla="val 2182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code"/>
          <p:cNvSpPr txBox="1"/>
          <p:nvPr/>
        </p:nvSpPr>
        <p:spPr>
          <a:xfrm>
            <a:off x="4160520" y="1371600"/>
            <a:ext cx="4389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reviewer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変更を確かめて、合格か不合格かを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証拠付きで返すレビュー担当。コードは直さない。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["read", "search", "execute"]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あなたはレビュー担当です。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コードを直さない。直したくなったら不合格にする。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「動きました」を信じず、自分で実行して確かめる。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最後に「合格」か「不合格」を 1 行で書く。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4023360" y="393192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4" name="card-body"/>
          <p:cNvSpPr txBox="1"/>
          <p:nvPr/>
        </p:nvSpPr>
        <p:spPr>
          <a:xfrm>
            <a:off x="4160520" y="4059936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tools = 使える道具。読む・探す・実行するだけで、書き換える道具(edit)を渡していない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3. カスタムエージェント: 作る・確かめる・コツ</a:t>
            </a:r>
            <a:endParaRPr lang="en-US" sz="2400" dirty="0"/>
          </a:p>
        </p:txBody>
      </p:sp>
      <p:sp>
        <p:nvSpPr>
          <p:cNvPr id="4" name="label"/>
          <p:cNvSpPr txBox="1"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① エージェントに頼んで下書きを出してもらう</a:t>
            </a:r>
            <a:endParaRPr lang="en-US" sz="1100" dirty="0"/>
          </a:p>
        </p:txBody>
      </p:sp>
      <p:sp>
        <p:nvSpPr>
          <p:cNvPr id="5" name="code-bg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594360" y="13716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コードを直さずに確認だけするレビュー担当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のカスタムエージェントを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.github/agents/reviewer.agent.md に作って。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自分でビルドとテストを実行して確かめ、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最後に合格か不合格かを書く役にして。</a:t>
            </a:r>
            <a:endParaRPr lang="en-US" sz="1200" dirty="0"/>
          </a:p>
        </p:txBody>
      </p:sp>
      <p:sp>
        <p:nvSpPr>
          <p:cNvPr id="7" name="label"/>
          <p:cNvSpPr txBox="1"/>
          <p:nvPr/>
        </p:nvSpPr>
        <p:spPr>
          <a:xfrm>
            <a:off x="45720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② 効いているか確かめる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457200" y="31546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card-body"/>
          <p:cNvSpPr txBox="1"/>
          <p:nvPr/>
        </p:nvSpPr>
        <p:spPr>
          <a:xfrm>
            <a:off x="594360" y="3282696"/>
            <a:ext cx="3749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/agent の一覧に出るか。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reviewer を選んで「このファイルの 1 行を直して」と頼み、直さずに断るか。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754880" y="9601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1" name="card-head"/>
          <p:cNvSpPr txBox="1"/>
          <p:nvPr/>
        </p:nvSpPr>
        <p:spPr>
          <a:xfrm>
            <a:off x="4892040" y="1069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コツは 3 つ</a:t>
            </a:r>
            <a:endParaRPr lang="en-US" sz="1500" dirty="0"/>
          </a:p>
        </p:txBody>
      </p:sp>
      <p:sp>
        <p:nvSpPr>
          <p:cNvPr id="12" name="list"/>
          <p:cNvSpPr txBox="1"/>
          <p:nvPr/>
        </p:nvSpPr>
        <p:spPr>
          <a:xfrm>
            <a:off x="4937760" y="150876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役割は 1 つに絞る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確かめる役には書き換える道具を渡さない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何でも分けない。普段はいつものエージェントで十分</a:t>
            </a:r>
            <a:endParaRPr lang="en-US" sz="1450" dirty="0"/>
          </a:p>
        </p:txBody>
      </p:sp>
      <p:sp>
        <p:nvSpPr>
          <p:cNvPr id="13" name="card"/>
          <p:cNvSpPr/>
          <p:nvPr/>
        </p:nvSpPr>
        <p:spPr>
          <a:xfrm>
            <a:off x="4754880" y="34290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card-head"/>
          <p:cNvSpPr txBox="1"/>
          <p:nvPr/>
        </p:nvSpPr>
        <p:spPr>
          <a:xfrm>
            <a:off x="4892040" y="3538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育て方</a:t>
            </a:r>
            <a:endParaRPr lang="en-US" sz="1500" dirty="0"/>
          </a:p>
        </p:txBody>
      </p:sp>
      <p:sp>
        <p:nvSpPr>
          <p:cNvPr id="15" name="card-body"/>
          <p:cNvSpPr txBox="1"/>
          <p:nvPr/>
        </p:nvSpPr>
        <p:spPr>
          <a:xfrm>
            <a:off x="489204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見落としがあったら「〜も確認する」を 1 行足す。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3" name="chip-label"/>
          <p:cNvSpPr txBox="1"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MCP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外のサービスとつなぐ口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4. MCP: 外のサービスとつなぐ口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9601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3E5F5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5" name="card-head"/>
          <p:cNvSpPr txBox="1"/>
          <p:nvPr/>
        </p:nvSpPr>
        <p:spPr>
          <a:xfrm>
            <a:off x="594360" y="10698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1FA2"/>
                </a:solidFill>
              </a:rPr>
              <a:t>これは何</a:t>
            </a:r>
            <a:endParaRPr lang="en-US" sz="1500" dirty="0"/>
          </a:p>
        </p:txBody>
      </p:sp>
      <p:sp>
        <p:nvSpPr>
          <p:cNvPr id="6" name="card-body"/>
          <p:cNvSpPr txBox="1"/>
          <p:nvPr/>
        </p:nvSpPr>
        <p:spPr>
          <a:xfrm>
            <a:off x="59436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Issue 管理・ブラウザ・データベース・チームの文書検索など、普段は触れないものに手を届かせる。共通の規格。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57200" y="2331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3E5F5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8" name="card-head"/>
          <p:cNvSpPr txBox="1"/>
          <p:nvPr/>
        </p:nvSpPr>
        <p:spPr>
          <a:xfrm>
            <a:off x="594360" y="24414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1FA2"/>
                </a:solidFill>
              </a:rPr>
              <a:t>まず知っておくこと</a:t>
            </a:r>
            <a:endParaRPr lang="en-US" sz="1500" dirty="0"/>
          </a:p>
        </p:txBody>
      </p:sp>
      <p:sp>
        <p:nvSpPr>
          <p:cNvPr id="9" name="list"/>
          <p:cNvSpPr txBox="1"/>
          <p:nvPr/>
        </p:nvSpPr>
        <p:spPr>
          <a:xfrm>
            <a:off x="640080" y="283464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GitHub にはもうつながっている。設定しなくても Issue や PR を読める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コマンドで済むなら MCP は要らない。git や gh を使わせるほうが簡単で、何をしたかも見える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4663440" y="9601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card-head"/>
          <p:cNvSpPr txBox="1"/>
          <p:nvPr/>
        </p:nvSpPr>
        <p:spPr>
          <a:xfrm>
            <a:off x="4800600" y="10698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追加のしかた</a:t>
            </a:r>
            <a:endParaRPr lang="en-US" sz="1500" dirty="0"/>
          </a:p>
        </p:txBody>
      </p:sp>
      <p:sp>
        <p:nvSpPr>
          <p:cNvPr id="12" name="card-body"/>
          <p:cNvSpPr txBox="1"/>
          <p:nvPr/>
        </p:nvSpPr>
        <p:spPr>
          <a:xfrm>
            <a:off x="480060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アプリ: Customize → MCP から探して入れる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CLI: /mcp add と打って質問に答える(一覧は /mcp list)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4663440" y="2331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card-head"/>
          <p:cNvSpPr txBox="1"/>
          <p:nvPr/>
        </p:nvSpPr>
        <p:spPr>
          <a:xfrm>
            <a:off x="4800600" y="24414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気をつけること</a:t>
            </a:r>
            <a:endParaRPr lang="en-US" sz="1500" dirty="0"/>
          </a:p>
        </p:txBody>
      </p:sp>
      <p:sp>
        <p:nvSpPr>
          <p:cNvPr id="15" name="list"/>
          <p:cNvSpPr txBox="1"/>
          <p:nvPr/>
        </p:nvSpPr>
        <p:spPr>
          <a:xfrm>
            <a:off x="4846320" y="283464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信頼できる提供元のものだけ入れる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確認の画面を読んでから許可する。「全部許可」にしない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パスワードやトークンを、リポジトリに入れるファイルに書かない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Issue や Web ページに書かれた指示には従わせない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chip-label"/>
          <p:cNvSpPr txBox="1"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組み合わせる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作る役と確かめる役で回す(ユーザーハーネス)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5. 考え方: 「できました」をそのまま信じない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9601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card-head"/>
          <p:cNvSpPr txBox="1"/>
          <p:nvPr/>
        </p:nvSpPr>
        <p:spPr>
          <a:xfrm>
            <a:off x="594360" y="1069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26A00"/>
                </a:solidFill>
              </a:rPr>
              <a:t>1. 作る役と確かめる役</a:t>
            </a:r>
            <a:endParaRPr lang="en-US" sz="1350" dirty="0"/>
          </a:p>
        </p:txBody>
      </p:sp>
      <p:sp>
        <p:nvSpPr>
          <p:cNvPr id="6" name="card-body"/>
          <p:cNvSpPr txBox="1"/>
          <p:nvPr/>
        </p:nvSpPr>
        <p:spPr>
          <a:xfrm>
            <a:off x="59436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分けておく。確かめる役は自分で実行して確かめ、コードは直さない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46120" y="9601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card-head"/>
          <p:cNvSpPr txBox="1"/>
          <p:nvPr/>
        </p:nvSpPr>
        <p:spPr>
          <a:xfrm>
            <a:off x="3383280" y="1069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26A00"/>
                </a:solidFill>
              </a:rPr>
              <a:t>2. 合格の条件を先に書く</a:t>
            </a:r>
            <a:endParaRPr lang="en-US" sz="1350" dirty="0"/>
          </a:p>
        </p:txBody>
      </p:sp>
      <p:sp>
        <p:nvSpPr>
          <p:cNvPr id="9" name="card-body"/>
          <p:cNvSpPr txBox="1"/>
          <p:nvPr/>
        </p:nvSpPr>
        <p:spPr>
          <a:xfrm>
            <a:off x="338328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「正しく動く」ではなく、誰が見ても同じ判定になる形で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035040" y="9601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card-head"/>
          <p:cNvSpPr txBox="1"/>
          <p:nvPr/>
        </p:nvSpPr>
        <p:spPr>
          <a:xfrm>
            <a:off x="6172200" y="1069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26A00"/>
                </a:solidFill>
              </a:rPr>
              <a:t>3. 作業を小さく区切る</a:t>
            </a:r>
            <a:endParaRPr lang="en-US" sz="1350" dirty="0"/>
          </a:p>
        </p:txBody>
      </p:sp>
      <p:sp>
        <p:nvSpPr>
          <p:cNvPr id="12" name="card-body"/>
          <p:cNvSpPr txBox="1"/>
          <p:nvPr/>
        </p:nvSpPr>
        <p:spPr>
          <a:xfrm>
            <a:off x="617220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 区切り(フェーズ)ずつ。合格したら次へ</a:t>
            </a:r>
            <a:endParaRPr lang="en-US" sz="1300" dirty="0"/>
          </a:p>
        </p:txBody>
      </p:sp>
      <p:sp>
        <p:nvSpPr>
          <p:cNvPr id="13" name="box"/>
          <p:cNvSpPr/>
          <p:nvPr/>
        </p:nvSpPr>
        <p:spPr>
          <a:xfrm>
            <a:off x="457200" y="27432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5875">
            <a:solidFill>
              <a:srgbClr val="FB8C00"/>
            </a:solidFill>
            <a:prstDash val="solid"/>
          </a:ln>
        </p:spPr>
      </p:sp>
      <p:sp>
        <p:nvSpPr>
          <p:cNvPr id="14" name="box-text"/>
          <p:cNvSpPr txBox="1"/>
          <p:nvPr/>
        </p:nvSpPr>
        <p:spPr>
          <a:xfrm>
            <a:off x="530352" y="274320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作る役が実装する</a:t>
            </a:r>
            <a:endParaRPr lang="en-US" sz="1300" dirty="0"/>
          </a:p>
        </p:txBody>
      </p:sp>
      <p:sp>
        <p:nvSpPr>
          <p:cNvPr id="15" name="box"/>
          <p:cNvSpPr/>
          <p:nvPr/>
        </p:nvSpPr>
        <p:spPr>
          <a:xfrm>
            <a:off x="3246120" y="274320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5875">
            <a:solidFill>
              <a:srgbClr val="FB8C00"/>
            </a:solidFill>
            <a:prstDash val="solid"/>
          </a:ln>
        </p:spPr>
      </p:sp>
      <p:sp>
        <p:nvSpPr>
          <p:cNvPr id="16" name="box-text"/>
          <p:cNvSpPr txBox="1"/>
          <p:nvPr/>
        </p:nvSpPr>
        <p:spPr>
          <a:xfrm>
            <a:off x="3319272" y="274320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確かめる役が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自分で実行して判定</a:t>
            </a:r>
            <a:endParaRPr lang="en-US" sz="1300" dirty="0"/>
          </a:p>
        </p:txBody>
      </p:sp>
      <p:sp>
        <p:nvSpPr>
          <p:cNvPr id="17" name="box"/>
          <p:cNvSpPr/>
          <p:nvPr/>
        </p:nvSpPr>
        <p:spPr>
          <a:xfrm>
            <a:off x="6217920" y="274320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3F2FD"/>
          </a:solidFill>
          <a:ln w="15875">
            <a:solidFill>
              <a:srgbClr val="1E88E5"/>
            </a:solidFill>
            <a:prstDash val="solid"/>
          </a:ln>
        </p:spPr>
      </p:sp>
      <p:sp>
        <p:nvSpPr>
          <p:cNvPr id="18" name="box-text"/>
          <p:cNvSpPr txBox="1"/>
          <p:nvPr/>
        </p:nvSpPr>
        <p:spPr>
          <a:xfrm>
            <a:off x="6291072" y="274320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人が確認してコミット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→ 次のフェーズへ</a:t>
            </a:r>
            <a:endParaRPr lang="en-US" sz="1300" dirty="0"/>
          </a:p>
        </p:txBody>
      </p:sp>
      <p:sp>
        <p:nvSpPr>
          <p:cNvPr id="19" name="arrow"/>
          <p:cNvSpPr/>
          <p:nvPr/>
        </p:nvSpPr>
        <p:spPr>
          <a:xfrm>
            <a:off x="2743200" y="3127248"/>
            <a:ext cx="502920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0" name="arrow"/>
          <p:cNvSpPr/>
          <p:nvPr/>
        </p:nvSpPr>
        <p:spPr>
          <a:xfrm>
            <a:off x="5715000" y="3127248"/>
            <a:ext cx="502920" cy="0"/>
          </a:xfrm>
          <a:prstGeom prst="line">
            <a:avLst/>
          </a:prstGeom>
          <a:noFill/>
          <a:ln w="22225">
            <a:solidFill>
              <a:srgbClr val="43A047"/>
            </a:solidFill>
            <a:prstDash val="solid"/>
            <a:tailEnd type="triangle"/>
          </a:ln>
        </p:spPr>
      </p:sp>
      <p:sp>
        <p:nvSpPr>
          <p:cNvPr id="21" name="label"/>
          <p:cNvSpPr txBox="1"/>
          <p:nvPr/>
        </p:nvSpPr>
        <p:spPr>
          <a:xfrm>
            <a:off x="571500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</a:rPr>
              <a:t>合格</a:t>
            </a:r>
            <a:endParaRPr lang="en-US" sz="1100" dirty="0"/>
          </a:p>
        </p:txBody>
      </p:sp>
      <p:sp>
        <p:nvSpPr>
          <p:cNvPr id="22" name="arrow"/>
          <p:cNvSpPr/>
          <p:nvPr/>
        </p:nvSpPr>
        <p:spPr>
          <a:xfrm>
            <a:off x="4480560" y="3520440"/>
            <a:ext cx="0" cy="411480"/>
          </a:xfrm>
          <a:prstGeom prst="line">
            <a:avLst/>
          </a:prstGeom>
          <a:noFill/>
          <a:ln w="22225">
            <a:solidFill>
              <a:srgbClr val="E53935"/>
            </a:solidFill>
            <a:prstDash val="solid"/>
          </a:ln>
        </p:spPr>
      </p:sp>
      <p:sp>
        <p:nvSpPr>
          <p:cNvPr id="23" name="arrow"/>
          <p:cNvSpPr/>
          <p:nvPr/>
        </p:nvSpPr>
        <p:spPr>
          <a:xfrm>
            <a:off x="1600200" y="3931920"/>
            <a:ext cx="2880360" cy="0"/>
          </a:xfrm>
          <a:prstGeom prst="line">
            <a:avLst/>
          </a:prstGeom>
          <a:noFill/>
          <a:ln w="22225">
            <a:solidFill>
              <a:srgbClr val="E53935"/>
            </a:solidFill>
            <a:prstDash val="solid"/>
          </a:ln>
        </p:spPr>
      </p:sp>
      <p:sp>
        <p:nvSpPr>
          <p:cNvPr id="24" name="arrow"/>
          <p:cNvSpPr/>
          <p:nvPr/>
        </p:nvSpPr>
        <p:spPr>
          <a:xfrm flipV="1">
            <a:off x="1600200" y="3520440"/>
            <a:ext cx="0" cy="411480"/>
          </a:xfrm>
          <a:prstGeom prst="line">
            <a:avLst/>
          </a:prstGeom>
          <a:noFill/>
          <a:ln w="22225">
            <a:solidFill>
              <a:srgbClr val="E53935"/>
            </a:solidFill>
            <a:prstDash val="solid"/>
            <a:tailEnd type="triangle"/>
          </a:ln>
        </p:spPr>
      </p:sp>
      <p:sp>
        <p:nvSpPr>
          <p:cNvPr id="25" name="label"/>
          <p:cNvSpPr txBox="1"/>
          <p:nvPr/>
        </p:nvSpPr>
        <p:spPr>
          <a:xfrm>
            <a:off x="201168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</a:rPr>
              <a:t>不合格: 直してもう一度</a:t>
            </a:r>
            <a:endParaRPr lang="en-US" sz="1100" dirty="0"/>
          </a:p>
        </p:txBody>
      </p:sp>
      <p:sp>
        <p:nvSpPr>
          <p:cNvPr id="26" name="text"/>
          <p:cNvSpPr txBox="1"/>
          <p:nvPr/>
        </p:nvSpPr>
        <p:spPr>
          <a:xfrm>
            <a:off x="4937760" y="3977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不合格が 3 回続いたら止めて、人が作業を小さく分け直す。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5. 使うものと始め方</a:t>
            </a:r>
            <a:endParaRPr lang="en-US" sz="24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5720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463040"/>
                <a:gridCol w="1325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ファイル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役目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置き場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HARNESS.md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フェーズと合格条件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いちばん上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implementer.agent.md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作る役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.github/agents/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reviewer.agent.md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確かめる役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.github/agents/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phase-loop/SKILL.md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 周の進め方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.github/skills/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TEST_REPORT.md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結果の記録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docs/</a:t>
                      </a:r>
                      <a:endParaRPr lang="en-US" sz="11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457200" y="3520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雛形は templates/ にある。{{ }} の所を埋めて使う。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303520" y="96012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card-head"/>
          <p:cNvSpPr txBox="1"/>
          <p:nvPr/>
        </p:nvSpPr>
        <p:spPr>
          <a:xfrm>
            <a:off x="5440680" y="1069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6A00"/>
                </a:solidFill>
              </a:rPr>
              <a:t>始め方</a:t>
            </a:r>
            <a:endParaRPr lang="en-US" sz="1500" dirty="0"/>
          </a:p>
        </p:txBody>
      </p:sp>
      <p:sp>
        <p:nvSpPr>
          <p:cNvPr id="8" name="chip"/>
          <p:cNvSpPr/>
          <p:nvPr/>
        </p:nvSpPr>
        <p:spPr>
          <a:xfrm>
            <a:off x="5486400" y="1508760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chip-label"/>
          <p:cNvSpPr txBox="1"/>
          <p:nvPr/>
        </p:nvSpPr>
        <p:spPr>
          <a:xfrm>
            <a:off x="54864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"/>
          <p:cNvSpPr txBox="1"/>
          <p:nvPr/>
        </p:nvSpPr>
        <p:spPr>
          <a:xfrm>
            <a:off x="5989320" y="1508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雛形を置き場にコピーする</a:t>
            </a:r>
            <a:endParaRPr lang="en-US" sz="1250" dirty="0"/>
          </a:p>
        </p:txBody>
      </p:sp>
      <p:sp>
        <p:nvSpPr>
          <p:cNvPr id="11" name="chip"/>
          <p:cNvSpPr/>
          <p:nvPr/>
        </p:nvSpPr>
        <p:spPr>
          <a:xfrm>
            <a:off x="5486400" y="2258568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chip-label"/>
          <p:cNvSpPr txBox="1"/>
          <p:nvPr/>
        </p:nvSpPr>
        <p:spPr>
          <a:xfrm>
            <a:off x="548640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"/>
          <p:cNvSpPr txBox="1"/>
          <p:nvPr/>
        </p:nvSpPr>
        <p:spPr>
          <a:xfrm>
            <a:off x="5989320" y="22585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HARNESS.md はエージェントと相談して埋める</a:t>
            </a:r>
            <a:endParaRPr lang="en-US" sz="1250" dirty="0"/>
          </a:p>
        </p:txBody>
      </p:sp>
      <p:sp>
        <p:nvSpPr>
          <p:cNvPr id="14" name="chip"/>
          <p:cNvSpPr/>
          <p:nvPr/>
        </p:nvSpPr>
        <p:spPr>
          <a:xfrm>
            <a:off x="5486400" y="3008376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chip-label"/>
          <p:cNvSpPr txBox="1"/>
          <p:nvPr/>
        </p:nvSpPr>
        <p:spPr>
          <a:xfrm>
            <a:off x="54864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"/>
          <p:cNvSpPr txBox="1"/>
          <p:nvPr/>
        </p:nvSpPr>
        <p:spPr>
          <a:xfrm>
            <a:off x="5989320" y="300837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出てきた案を人が見て、減らす・厳しくする</a:t>
            </a:r>
            <a:endParaRPr lang="en-US" sz="1250" dirty="0"/>
          </a:p>
        </p:txBody>
      </p:sp>
      <p:sp>
        <p:nvSpPr>
          <p:cNvPr id="17" name="chip"/>
          <p:cNvSpPr/>
          <p:nvPr/>
        </p:nvSpPr>
        <p:spPr>
          <a:xfrm>
            <a:off x="5486400" y="3758184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chip-label"/>
          <p:cNvSpPr txBox="1"/>
          <p:nvPr/>
        </p:nvSpPr>
        <p:spPr>
          <a:xfrm>
            <a:off x="548640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"/>
          <p:cNvSpPr txBox="1"/>
          <p:nvPr/>
        </p:nvSpPr>
        <p:spPr>
          <a:xfrm>
            <a:off x="5989320" y="375818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/phase-loop 0 で Phase 0 を 1 周回す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5. 合格の条件の書き方と、大事な約束</a:t>
            </a:r>
            <a:endParaRPr lang="en-US" sz="24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よくない(人によって判定が変わる)</a:t>
                      </a:r>
                      <a:endParaRPr lang="en-US" sz="13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よい(誰が見ても同じ)</a:t>
                      </a:r>
                      <a:endParaRPr lang="en-US" sz="13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</a:rPr>
                        <a:t>正しく動く</a:t>
                      </a:r>
                      <a:endParaRPr lang="en-US" sz="13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</a:rPr>
                        <a:t>--help を実行すると 4 つのコマンド名が表示される</a:t>
                      </a:r>
                      <a:endParaRPr lang="en-US" sz="13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</a:rPr>
                        <a:t>前と同じ結果になる</a:t>
                      </a:r>
                      <a:endParaRPr lang="en-US" sz="13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</a:rPr>
                        <a:t>設定 12 項目の読み込み結果が、期待する表と一致する</a:t>
                      </a:r>
                      <a:endParaRPr lang="en-US" sz="13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</a:rPr>
                        <a:t>クラッシュしない</a:t>
                      </a:r>
                      <a:endParaRPr lang="en-US" sz="13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</a:rPr>
                        <a:t>おかしな入力を 10 回与えても、プログラムが終了しない</a:t>
                      </a:r>
                      <a:endParaRPr lang="en-US" sz="13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457200" y="3154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card-head"/>
          <p:cNvSpPr txBox="1"/>
          <p:nvPr/>
        </p:nvSpPr>
        <p:spPr>
          <a:xfrm>
            <a:off x="594360" y="32644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6A00"/>
                </a:solidFill>
              </a:rPr>
              <a:t>確かめる役は直さない</a:t>
            </a:r>
            <a:endParaRPr lang="en-US" sz="1400" dirty="0"/>
          </a:p>
        </p:txBody>
      </p:sp>
      <p:sp>
        <p:nvSpPr>
          <p:cNvPr id="7" name="card-body"/>
          <p:cNvSpPr txBox="1"/>
          <p:nvPr/>
        </p:nvSpPr>
        <p:spPr>
          <a:xfrm>
            <a:off x="59436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コードを直したくなったら不合格にする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3154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card-head"/>
          <p:cNvSpPr txBox="1"/>
          <p:nvPr/>
        </p:nvSpPr>
        <p:spPr>
          <a:xfrm>
            <a:off x="3383280" y="32644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6A00"/>
                </a:solidFill>
              </a:rPr>
              <a:t>確かめる役は自分で実行する</a:t>
            </a:r>
            <a:endParaRPr lang="en-US" sz="1400" dirty="0"/>
          </a:p>
        </p:txBody>
      </p:sp>
      <p:sp>
        <p:nvSpPr>
          <p:cNvPr id="10" name="card-body"/>
          <p:cNvSpPr txBox="1"/>
          <p:nvPr/>
        </p:nvSpPr>
        <p:spPr>
          <a:xfrm>
            <a:off x="338328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作る役の報告を信じない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035040" y="3154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card-head"/>
          <p:cNvSpPr txBox="1"/>
          <p:nvPr/>
        </p:nvSpPr>
        <p:spPr>
          <a:xfrm>
            <a:off x="6172200" y="32644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6A00"/>
                </a:solidFill>
              </a:rPr>
              <a:t>3 回でだめなら人が分ける</a:t>
            </a:r>
            <a:endParaRPr lang="en-US" sz="1400" dirty="0"/>
          </a:p>
        </p:txBody>
      </p:sp>
      <p:sp>
        <p:nvSpPr>
          <p:cNvPr id="13" name="card-body"/>
          <p:cNvSpPr txBox="1"/>
          <p:nvPr/>
        </p:nvSpPr>
        <p:spPr>
          <a:xfrm>
            <a:off x="617220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モデルを変えても解決しないことが多い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次の一歩: まず AGENTS.md を 1 つ置く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エージェントに下書きを頼む → 読んで直す → 新しい会話で確かめる。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あとは困ったときに 1 行ずつ足していけば十分です。</a:t>
            </a:r>
            <a:endParaRPr lang="en-US" sz="1500" dirty="0"/>
          </a:p>
        </p:txBody>
      </p:sp>
      <p:sp>
        <p:nvSpPr>
          <p:cNvPr id="4" name="note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慣れてきたら: 詳細資料・上級者向け(advanced/)で、細かい仕様・うまくいかないときの原因・設計の理由を必要な章だけ引く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エージェントのカスタマイズ入門</dc:title>
  <dc:subject>PptxGenJS Presentation</dc:subject>
  <dc:creator>配布資料</dc:creator>
  <cp:lastModifiedBy>配布資料</cp:lastModifiedBy>
  <cp:revision>1</cp:revision>
  <dcterms:created xsi:type="dcterms:W3CDTF">2026-10-21T23:49:09Z</dcterms:created>
  <dcterms:modified xsi:type="dcterms:W3CDTF">2026-10-21T23:49:09Z</dcterms:modified>
</cp:coreProperties>
</file>