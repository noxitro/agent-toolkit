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d24ce3b7-7787-f2b8-ce43-210315979720}">
          <p14:sldIdLst>
            <p14:sldId id="256"/>
            <p14:sldId id="257"/>
            <p14:sldId id="258"/>
            <p14:sldId id="259"/>
            <p14:sldId id="260"/>
          </p14:sldIdLst>
        </p14:section>
        <p14:section name="1. 指示ファイル" id="{e2a0f967-d4bc-a9e1-ac5a-a9ef1d5837b6}">
          <p14:sldIdLst>
            <p14:sldId id="261"/>
            <p14:sldId id="262"/>
            <p14:sldId id="263"/>
          </p14:sldIdLst>
        </p14:section>
        <p14:section name="2. スキル" id="{f910b1e1-f937-7cad-2462-1557a27f3274}">
          <p14:sldIdLst>
            <p14:sldId id="264"/>
            <p14:sldId id="265"/>
            <p14:sldId id="266"/>
            <p14:sldId id="267"/>
            <p14:sldId id="268"/>
          </p14:sldIdLst>
        </p14:section>
        <p14:section name="3. カスタムエージェント" id="{c6dea336-37cb-5ff8-6a73-df289ae54364}">
          <p14:sldIdLst>
            <p14:sldId id="269"/>
            <p14:sldId id="270"/>
            <p14:sldId id="271"/>
            <p14:sldId id="272"/>
            <p14:sldId id="273"/>
          </p14:sldIdLst>
        </p14:section>
        <p14:section name="4. MCP" id="{c6ba0654-59fd-caec-81eb-0124135139b0}">
          <p14:sldIdLst>
            <p14:sldId id="274"/>
            <p14:sldId id="275"/>
            <p14:sldId id="276"/>
            <p14:sldId id="277"/>
          </p14:sldIdLst>
        </p14:section>
        <p14:section name="5. ユーザーハーネス" id="{5f04d705-0246-871c-1091-5f33fbeb9cfa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まとめ" id="{2c0e11f6-7869-9e94-6d01-1b1c1c602361}">
          <p14:sldIdLst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本文(Markdown)が正。スライドは説明会用の要点。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カスタマイズとユーザーハーネス(2026-10)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カスタマイズとユーザーハーネス(2026-10)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カスタマイズとユーザーハーネス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指示・スキル・カスタムエージェント・MCP の 4 つの部品と、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それらを組み合わせて「実装 → 審査 → ゲート」を回すユーザーハーネス</a:t>
            </a:r>
            <a:endParaRPr lang="en-US" sz="1500" dirty="0"/>
          </a:p>
        </p:txBody>
      </p:sp>
      <p:sp>
        <p:nvSpPr>
          <p:cNvPr id="4" name="dot"/>
          <p:cNvSpPr/>
          <p:nvPr/>
        </p:nvSpPr>
        <p:spPr>
          <a:xfrm>
            <a:off x="548640" y="4206240"/>
            <a:ext cx="292608" cy="29260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05840" y="4206240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463040" y="4206240"/>
            <a:ext cx="292608" cy="29260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1920240" y="4206240"/>
            <a:ext cx="292608" cy="292608"/>
          </a:xfrm>
          <a:prstGeom prst="ellipse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2377440" y="4206240"/>
            <a:ext cx="292608" cy="29260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note"/>
          <p:cNvSpPr txBox="1"/>
          <p:nvPr/>
        </p:nvSpPr>
        <p:spPr>
          <a:xfrm>
            <a:off x="3017520" y="4206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GitHub Copilot(CLI・アプリ)で説明。デファクトスタンダードの形式。2026-10 時点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導入編で済んだこと、本資料で到達すること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導入編</a:t>
            </a:r>
            <a:endParaRPr lang="en-US" sz="1300" dirty="0"/>
          </a:p>
        </p:txBody>
      </p:sp>
      <p:sp>
        <p:nvSpPr>
          <p:cNvPr id="5" name="list"/>
          <p:cNvSpPr txBox="1"/>
          <p:nvPr/>
        </p:nvSpPr>
        <p:spPr>
          <a:xfrm>
            <a:off x="640080" y="14630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Copilot appの導入とサインイン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文脈(コンテキスト)・トークン・worktree の概念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モデルの考え方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コードの修正とバグ修正の実演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754880" y="10058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489204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本資料の到達目標</a:t>
            </a:r>
            <a:endParaRPr lang="en-US" sz="1300" dirty="0"/>
          </a:p>
        </p:txBody>
      </p:sp>
      <p:sp>
        <p:nvSpPr>
          <p:cNvPr id="8" name="list"/>
          <p:cNvSpPr txBox="1"/>
          <p:nvPr/>
        </p:nvSpPr>
        <p:spPr>
          <a:xfrm>
            <a:off x="4937760" y="14630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4 つの部品の仕組みと Copilot での置き場が分かる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description が発動を決めることを体で知る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審査役を読み取り専用にする理由と方法が言える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自分のリポジトリでユーザーハーネスを 1 周回せる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この資料の方針と、載せる機能の基準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デファクトで説明</a:t>
            </a:r>
            <a:endParaRPr lang="en-US" sz="1300" dirty="0"/>
          </a:p>
        </p:txBody>
      </p:sp>
      <p:sp>
        <p:nvSpPr>
          <p:cNvPr id="5" name="card-body"/>
          <p:cNvSpPr txBox="1"/>
          <p:nvPr/>
        </p:nvSpPr>
        <p:spPr>
          <a:xfrm>
            <a:off x="594360" y="14173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置き場・書式・呼び方は GitHub Copilot(CLI とアプリ)のもの。他環境の登録方法は説明しない(付録に対応の有無だけ)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3246120" y="10058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3383280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基準は 1 つ</a:t>
            </a:r>
            <a:endParaRPr lang="en-US" sz="1300" dirty="0"/>
          </a:p>
        </p:txBody>
      </p:sp>
      <p:sp>
        <p:nvSpPr>
          <p:cNvPr id="8" name="card-body"/>
          <p:cNvSpPr txBox="1"/>
          <p:nvPr/>
        </p:nvSpPr>
        <p:spPr>
          <a:xfrm>
            <a:off x="3383280" y="14173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Copilot で対応し、かつ他のエージェント環境のどれか 1 つ以上で同じ形式か考え方が通用するもの。1 環境だけ非対応でも問題にしない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6035040" y="10058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0" name="card-head"/>
          <p:cNvSpPr txBox="1"/>
          <p:nvPr/>
        </p:nvSpPr>
        <p:spPr>
          <a:xfrm>
            <a:off x="6172200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廃れるものを書かない</a:t>
            </a:r>
            <a:endParaRPr lang="en-US" sz="1300" dirty="0"/>
          </a:p>
        </p:txBody>
      </p:sp>
      <p:sp>
        <p:nvSpPr>
          <p:cNvPr id="11" name="card-body"/>
          <p:cNvSpPr txBox="1"/>
          <p:nvPr/>
        </p:nvSpPr>
        <p:spPr>
          <a:xfrm>
            <a:off x="6172200" y="14173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モデル名・価格・画面の細部・言い回しの技は書かない。版で変わるものには時点(2026-10)を付ける</a:t>
            </a:r>
            <a:endParaRPr lang="en-US" sz="1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201168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機能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Copilot CLI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他環境の例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判定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指示 / スキル / カスタムエージェント / MCP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Claude Code、OpenCode、Codex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本文で扱う(第 1〜4 章)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フック / プラグイン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Claude Code、Codex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基準は満たすが部品ではない → 付録で概要だけ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プロンプトファイル(.prompt.md)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載せない。スキルの /名前 起動で代替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用語: この資料での意味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エージェント環境</a:t>
            </a:r>
            <a:endParaRPr lang="en-US" sz="1300" dirty="0"/>
          </a:p>
        </p:txBody>
      </p:sp>
      <p:sp>
        <p:nvSpPr>
          <p:cNvPr id="5" name="card-body"/>
          <p:cNvSpPr txBox="1"/>
          <p:nvPr/>
        </p:nvSpPr>
        <p:spPr>
          <a:xfrm>
            <a:off x="59436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コードを読み書きしコマンドを実行する実行環境。既定は Copilot app(Copilot CLI の上に構築 ◎)。Claude Code、OpenCode、Codex も同じ層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754880" y="10058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489204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ユーザーハーネス</a:t>
            </a:r>
            <a:endParaRPr lang="en-US" sz="1300" dirty="0"/>
          </a:p>
        </p:txBody>
      </p:sp>
      <p:sp>
        <p:nvSpPr>
          <p:cNvPr id="8" name="card-body"/>
          <p:cNvSpPr txBox="1"/>
          <p:nvPr/>
        </p:nvSpPr>
        <p:spPr>
          <a:xfrm>
            <a:off x="489204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利用者が自分で組む運用の仕組み。実装役・審査役のエージェント + HARNESS.md(フェーズとゲート条件)+ 起動スキル + 結果の置き場。実行環境を指す「ハーネス」とは別の意味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57200" y="27889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0" name="card-head"/>
          <p:cNvSpPr txBox="1"/>
          <p:nvPr/>
        </p:nvSpPr>
        <p:spPr>
          <a:xfrm>
            <a:off x="59436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文脈(コンテキスト)</a:t>
            </a:r>
            <a:endParaRPr lang="en-US" sz="1300" dirty="0"/>
          </a:p>
        </p:txBody>
      </p:sp>
      <p:sp>
        <p:nvSpPr>
          <p:cNvPr id="11" name="card-body"/>
          <p:cNvSpPr txBox="1"/>
          <p:nvPr/>
        </p:nvSpPr>
        <p:spPr>
          <a:xfrm>
            <a:off x="59436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モデルが 1 回の応答で読める入力の全体。指示・スキルの description・MCP のツール定義は常時ここに乗る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4754880" y="27889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card-head"/>
          <p:cNvSpPr txBox="1"/>
          <p:nvPr/>
        </p:nvSpPr>
        <p:spPr>
          <a:xfrm>
            <a:off x="489204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ゲート条件 / 確度の記号</a:t>
            </a:r>
            <a:endParaRPr lang="en-US" sz="1300" dirty="0"/>
          </a:p>
        </p:txBody>
      </p:sp>
      <p:sp>
        <p:nvSpPr>
          <p:cNvPr id="14" name="card-body"/>
          <p:cNvSpPr txBox="1"/>
          <p:nvPr/>
        </p:nvSpPr>
        <p:spPr>
          <a:xfrm>
            <a:off x="489204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審査役が機械的に確認できる合格条件。「正しく動く」は条件ではない。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◎ 公式文書で確認 / △ 実測・単一事例 / ▲ 推測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全体図: 4 つの部品と、いつ文脈に乗るか</a:t>
            </a:r>
            <a:endParaRPr lang="en-US" sz="2200" dirty="0"/>
          </a:p>
        </p:txBody>
      </p:sp>
      <p:pic>
        <p:nvPicPr>
          <p:cNvPr id="3" name="4 つの部品がセッションのどの時点で文脈に乗るかを示す図" descr="4 つの部品がセッションのどの時点で文脈に乗るかを示す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868680"/>
            <a:ext cx="6400800" cy="38004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指示ファイル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常時読まれる前提の置き方。層と優先、前提と手順の切り分け、正典を 1 か所にする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 指示: 仕組みと Copilot が読む場所(2026-10 ◎)</a:t>
            </a:r>
            <a:endParaRPr lang="en-US" sz="2200" dirty="0"/>
          </a:p>
        </p:txBody>
      </p:sp>
      <p:sp>
        <p:nvSpPr>
          <p:cNvPr id="3" name="list"/>
          <p:cNvSpPr txBox="1"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セッション開始時に決まった場所の指示を全部読んで結合する。優先順位は無く、重複は除かれる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編集しても動いているセッションには反映されない → /new で始め直す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/instructions で一覧と個別の無効化、--no-custom-instructions で全部無効</a:t>
            </a:r>
            <a:endParaRPr lang="en-US" sz="115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場所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効く範囲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ユーザー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~/.copilot/copilot-instructions.md、~/.copilot/instructions/**/*.instructions.md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自分の全リポジトリ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リポジトリ全体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AGENTS.md、.github/copilot-instructions.md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そのリポジトリの全依頼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ディレクトリ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作業中のファイルの経路にある AGENTS.md(ネスト)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そのディレクトリ以下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パス別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.github/instructions/**/*.instructions.md(applyTo に glob)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glob に合うファイルを扱うとき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他環境由来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CLAUDE.md、.claude/CLAUDE.md、GEMINI.md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読む(共存できる)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迷ったら AGENTS.md(Copilot・OpenCode・Codex が読む。Claude Code は CLAUDE.md が無ければ読む)。Copilot 専用の内容が出たときだけ copilot-instructions.md を足す。委譲で呼んだカスタムエージェントには include-custom-instructions: true が要る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 指示: 書き方の原則と最小の例</a:t>
            </a:r>
            <a:endParaRPr lang="en-US" sz="2200" dirty="0"/>
          </a:p>
        </p:txBody>
      </p:sp>
      <p:sp>
        <p:nvSpPr>
          <p:cNvPr id="3" name="chip"/>
          <p:cNvSpPr/>
          <p:nvPr/>
        </p:nvSpPr>
        <p:spPr>
          <a:xfrm>
            <a:off x="457200" y="1005840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chip-label"/>
          <p:cNvSpPr txBox="1"/>
          <p:nvPr/>
        </p:nvSpPr>
        <p:spPr>
          <a:xfrm>
            <a:off x="45720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"/>
          <p:cNvSpPr txBox="1"/>
          <p:nvPr/>
        </p:nvSpPr>
        <p:spPr>
          <a:xfrm>
            <a:off x="914400" y="987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前提を書く。手順を書かない</a:t>
            </a:r>
            <a:endParaRPr lang="en-US" sz="1200" dirty="0"/>
          </a:p>
        </p:txBody>
      </p:sp>
      <p:sp>
        <p:nvSpPr>
          <p:cNvPr id="6" name="text"/>
          <p:cNvSpPr txBox="1"/>
          <p:nvPr/>
        </p:nvSpPr>
        <p:spPr>
          <a:xfrm>
            <a:off x="91440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「常にこうである」は指示。「〜のときはこうする」はスキルへ</a:t>
            </a:r>
            <a:endParaRPr lang="en-US" sz="1050" dirty="0"/>
          </a:p>
        </p:txBody>
      </p:sp>
      <p:sp>
        <p:nvSpPr>
          <p:cNvPr id="7" name="chip"/>
          <p:cNvSpPr/>
          <p:nvPr/>
        </p:nvSpPr>
        <p:spPr>
          <a:xfrm>
            <a:off x="457200" y="1719072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chip-label"/>
          <p:cNvSpPr txBox="1"/>
          <p:nvPr/>
        </p:nvSpPr>
        <p:spPr>
          <a:xfrm>
            <a:off x="45720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914400" y="1700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短く</a:t>
            </a:r>
            <a:endParaRPr lang="en-US" sz="1200" dirty="0"/>
          </a:p>
        </p:txBody>
      </p:sp>
      <p:sp>
        <p:nvSpPr>
          <p:cNvPr id="10" name="text"/>
          <p:cNvSpPr txBox="1"/>
          <p:nvPr/>
        </p:nvSpPr>
        <p:spPr>
          <a:xfrm>
            <a:off x="91440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毎回の依頼に全文が乗る。100 行を超えたら applyTo 付きに分割 ▲</a:t>
            </a:r>
            <a:endParaRPr lang="en-US" sz="1050" dirty="0"/>
          </a:p>
        </p:txBody>
      </p:sp>
      <p:sp>
        <p:nvSpPr>
          <p:cNvPr id="11" name="chip"/>
          <p:cNvSpPr/>
          <p:nvPr/>
        </p:nvSpPr>
        <p:spPr>
          <a:xfrm>
            <a:off x="457200" y="2432304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chip-label"/>
          <p:cNvSpPr txBox="1"/>
          <p:nvPr/>
        </p:nvSpPr>
        <p:spPr>
          <a:xfrm>
            <a:off x="45720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914400" y="2414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正典は 1 か所</a:t>
            </a:r>
            <a:endParaRPr lang="en-US" sz="1200" dirty="0"/>
          </a:p>
        </p:txBody>
      </p:sp>
      <p:sp>
        <p:nvSpPr>
          <p:cNvPr id="14" name="text"/>
          <p:cNvSpPr txBox="1"/>
          <p:nvPr/>
        </p:nvSpPr>
        <p:spPr>
          <a:xfrm>
            <a:off x="914400" y="27066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複製すると直したとき届かない箇所が残る(8 日間届かなかった事例 △)</a:t>
            </a:r>
            <a:endParaRPr lang="en-US" sz="1050" dirty="0"/>
          </a:p>
        </p:txBody>
      </p:sp>
      <p:sp>
        <p:nvSpPr>
          <p:cNvPr id="15" name="chip"/>
          <p:cNvSpPr/>
          <p:nvPr/>
        </p:nvSpPr>
        <p:spPr>
          <a:xfrm>
            <a:off x="457200" y="3145536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chip-label"/>
          <p:cNvSpPr txBox="1"/>
          <p:nvPr/>
        </p:nvSpPr>
        <p:spPr>
          <a:xfrm>
            <a:off x="45720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91440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推測を事実のように書かせない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914400" y="3419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測った値と見た出力だけ。文書が無ければ止めて報告</a:t>
            </a:r>
            <a:endParaRPr lang="en-US" sz="1050" dirty="0"/>
          </a:p>
        </p:txBody>
      </p:sp>
      <p:sp>
        <p:nvSpPr>
          <p:cNvPr id="19" name="chip"/>
          <p:cNvSpPr/>
          <p:nvPr/>
        </p:nvSpPr>
        <p:spPr>
          <a:xfrm>
            <a:off x="457200" y="3858768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chip-label"/>
          <p:cNvSpPr txBox="1"/>
          <p:nvPr/>
        </p:nvSpPr>
        <p:spPr>
          <a:xfrm>
            <a:off x="45720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"/>
          <p:cNvSpPr txBox="1"/>
          <p:nvPr/>
        </p:nvSpPr>
        <p:spPr>
          <a:xfrm>
            <a:off x="9144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パスで切れる規約は applyTo へ</a:t>
            </a:r>
            <a:endParaRPr lang="en-US" sz="1200" dirty="0"/>
          </a:p>
        </p:txBody>
      </p:sp>
      <p:sp>
        <p:nvSpPr>
          <p:cNvPr id="22" name="text"/>
          <p:cNvSpPr txBox="1"/>
          <p:nvPr/>
        </p:nvSpPr>
        <p:spPr>
          <a:xfrm>
            <a:off x="914400" y="4133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そのディレクトリを扱うときだけ読まれればよい</a:t>
            </a:r>
            <a:endParaRPr lang="en-US" sz="1050" dirty="0"/>
          </a:p>
        </p:txBody>
      </p:sp>
      <p:sp>
        <p:nvSpPr>
          <p:cNvPr id="23" name="code-bg"/>
          <p:cNvSpPr/>
          <p:nvPr/>
        </p:nvSpPr>
        <p:spPr>
          <a:xfrm>
            <a:off x="4480560" y="1005840"/>
            <a:ext cx="4206240" cy="3566160"/>
          </a:xfrm>
          <a:prstGeom prst="roundRect">
            <a:avLst>
              <a:gd name="adj" fmla="val 1538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code"/>
          <p:cNvSpPr txBox="1"/>
          <p:nvPr/>
        </p:nvSpPr>
        <p:spPr>
          <a:xfrm>
            <a:off x="4590288" y="1078992"/>
            <a:ext cx="398678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このリポジトリで作業するときの前提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ビルド: cmake --build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テスト: ctest --test-dir build --output-on-failure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どちらも成功するまで「完了」と報告しない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報告は日本語。測った値・見た出力だけを書く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コミットしない。差分は作業ツリーに残す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tests/ のテストコードを変えない。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変えないと通らないときは止めて報告する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外部ライブラリの API は、インストール済みの版の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ヘッダか文書の該当箇所(path:line)を報告に添える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分からないことは推測で進めず、選択肢を並べて聞く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スキル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手順と知識を「必要なときだけ」読ませる。Agent Skills 標準。description が発動を決める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2. スキル: description が発動を決める</a:t>
            </a:r>
            <a:endParaRPr lang="en-US" sz="2200" dirty="0"/>
          </a:p>
        </p:txBody>
      </p:sp>
      <p:pic>
        <p:nvPicPr>
          <p:cNvPr id="3" name="スキルの description と本文が読まれる順序の図" descr="スキルの description と本文が読まれる順序の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6949440" cy="3619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2. スキル: 形式(Agent Skills 仕様 ◎)と Copilot での登録</a:t>
            </a:r>
            <a:endParaRPr lang="en-US" sz="2200" dirty="0"/>
          </a:p>
        </p:txBody>
      </p:sp>
      <p:sp>
        <p:nvSpPr>
          <p:cNvPr id="3" name="code-bg"/>
          <p:cNvSpPr/>
          <p:nvPr/>
        </p:nvSpPr>
        <p:spPr>
          <a:xfrm>
            <a:off x="457200" y="960120"/>
            <a:ext cx="4206240" cy="2331720"/>
          </a:xfrm>
          <a:prstGeom prst="roundRect">
            <a:avLst>
              <a:gd name="adj" fmla="val 2353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566928" y="1033272"/>
            <a:ext cx="398678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build-and-test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Use when asked to build the project,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 the tests, or check why a build or test fails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(e.g. "ビルドして", "テストを回して").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 for writing new tests.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ビルドとテスト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手順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cmake --build build。失敗したら末尾 20 行を貼って止まる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ctest --test-dir build --output-on-failure。件数を報告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品質基準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実行した結果だけを書く。テストコードは変えない</a:t>
            </a:r>
            <a:endParaRPr lang="en-US" sz="850" dirty="0"/>
          </a:p>
        </p:txBody>
      </p:sp>
      <p:sp>
        <p:nvSpPr>
          <p:cNvPr id="5" name="text"/>
          <p:cNvSpPr txBox="1"/>
          <p:nvPr/>
        </p:nvSpPr>
        <p:spPr>
          <a:xfrm>
            <a:off x="457200" y="33832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name: 1〜64 字、小文字英数字とハイフン、ディレクトリ名と一致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description: 1〜1024 字。何をするかと、いつ使うか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本文 500 行以内を推奨。長い資料は references/ 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任意: license、compatibility、metadata、allowed-tools(事前承認。shell は使わない)</a:t>
            </a:r>
            <a:endParaRPr lang="en-US" sz="105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96012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操作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Copilot での方法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置き場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.github/skills/&lt;name&gt;/SKILL.md(.agents/skills、.claude/skills も読む)。個人用は ~/.copilot/skills/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一覧 / 詳細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/skills list、/skills info &lt;name&gt;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追加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置いて /skills reload。または /skills add [--project] &lt;file|url|dir&gt;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手動起動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/&lt;name&gt; 引数(合致判断を飛ばす)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アプリ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Customize → Skills。リポジトリ・CLI のスキルは自動で使える ◎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484632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同名は先に見つかった方が勝つ(リポジトリ &gt; 個人)◎。置き場は .github/skills/ に統一する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2. スキル: description の書き方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悪い(内容の要約)</a:t>
            </a:r>
            <a:endParaRPr lang="en-US" sz="1300" dirty="0"/>
          </a:p>
        </p:txBody>
      </p:sp>
      <p:sp>
        <p:nvSpPr>
          <p:cNvPr id="5" name="card-body"/>
          <p:cNvSpPr txBox="1"/>
          <p:nvPr/>
        </p:nvSpPr>
        <p:spPr>
          <a:xfrm>
            <a:off x="594360" y="14173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「設定ファイル形式の仕様と変換手順」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→ 依頼文と照合できない。本文がどれほど良くても読まれない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754880" y="10058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489204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良い(場面)</a:t>
            </a:r>
            <a:endParaRPr lang="en-US" sz="1300" dirty="0"/>
          </a:p>
        </p:txBody>
      </p:sp>
      <p:sp>
        <p:nvSpPr>
          <p:cNvPr id="8" name="card-body"/>
          <p:cNvSpPr txBox="1"/>
          <p:nvPr/>
        </p:nvSpPr>
        <p:spPr>
          <a:xfrm>
            <a:off x="4892040" y="14173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Use when asked to convert a config file from the old format to the current one, or when a config fails to load after migration. Not for explaining the format.</a:t>
            </a:r>
            <a:endParaRPr lang="en-US" sz="1100" dirty="0"/>
          </a:p>
        </p:txBody>
      </p:sp>
      <p:sp>
        <p:nvSpPr>
          <p:cNvPr id="9" name="chip"/>
          <p:cNvSpPr/>
          <p:nvPr/>
        </p:nvSpPr>
        <p:spPr>
          <a:xfrm>
            <a:off x="457200" y="2697480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chip-label"/>
          <p:cNvSpPr txBox="1"/>
          <p:nvPr/>
        </p:nvSpPr>
        <p:spPr>
          <a:xfrm>
            <a:off x="4572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868680" y="2715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「Use when ...」で始め「Not for ...」で終える。陽性と陰性の両方を書く</a:t>
            </a:r>
            <a:endParaRPr lang="en-US" sz="1150" dirty="0"/>
          </a:p>
        </p:txBody>
      </p:sp>
      <p:sp>
        <p:nvSpPr>
          <p:cNvPr id="12" name="chip"/>
          <p:cNvSpPr/>
          <p:nvPr/>
        </p:nvSpPr>
        <p:spPr>
          <a:xfrm>
            <a:off x="457200" y="3081528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chip-label"/>
          <p:cNvSpPr txBox="1"/>
          <p:nvPr/>
        </p:nvSpPr>
        <p:spPr>
          <a:xfrm>
            <a:off x="45720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30998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利用者が実際に打つ言い回しを入れる(日本語の言い回しも括弧で)</a:t>
            </a:r>
            <a:endParaRPr lang="en-US" sz="1150" dirty="0"/>
          </a:p>
        </p:txBody>
      </p:sp>
      <p:sp>
        <p:nvSpPr>
          <p:cNvPr id="15" name="chip"/>
          <p:cNvSpPr/>
          <p:nvPr/>
        </p:nvSpPr>
        <p:spPr>
          <a:xfrm>
            <a:off x="457200" y="3465576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chip-label"/>
          <p:cNvSpPr txBox="1"/>
          <p:nvPr/>
        </p:nvSpPr>
        <p:spPr>
          <a:xfrm>
            <a:off x="45720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868680" y="34838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スキル名を繰り返さない。形容詞を書かない(「包括的な」は照合に効かない)</a:t>
            </a:r>
            <a:endParaRPr lang="en-US" sz="1150" dirty="0"/>
          </a:p>
        </p:txBody>
      </p:sp>
      <p:sp>
        <p:nvSpPr>
          <p:cNvPr id="18" name="chip"/>
          <p:cNvSpPr/>
          <p:nvPr/>
        </p:nvSpPr>
        <p:spPr>
          <a:xfrm>
            <a:off x="457200" y="3849624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chip-label"/>
          <p:cNvSpPr txBox="1"/>
          <p:nvPr/>
        </p:nvSpPr>
        <p:spPr>
          <a:xfrm>
            <a:off x="45720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"/>
          <p:cNvSpPr txBox="1"/>
          <p:nvPr/>
        </p:nvSpPr>
        <p:spPr>
          <a:xfrm>
            <a:off x="868680" y="3867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2〜3 文で足りる。長い description は毎回のコスト</a:t>
            </a:r>
            <a:endParaRPr lang="en-US" sz="1150" dirty="0"/>
          </a:p>
        </p:txBody>
      </p:sp>
      <p:sp>
        <p:nvSpPr>
          <p:cNvPr id="21" name="chip"/>
          <p:cNvSpPr/>
          <p:nvPr/>
        </p:nvSpPr>
        <p:spPr>
          <a:xfrm>
            <a:off x="457200" y="4233672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chip-label"/>
          <p:cNvSpPr txBox="1"/>
          <p:nvPr/>
        </p:nvSpPr>
        <p:spPr>
          <a:xfrm>
            <a:off x="45720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"/>
          <p:cNvSpPr txBox="1"/>
          <p:nvPr/>
        </p:nvSpPr>
        <p:spPr>
          <a:xfrm>
            <a:off x="86868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発動しないときに直すのは description。本文を直しても発動は変わらない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2. スキル: 作り方の 5 段と、増やしすぎない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段 1 依頼票</a:t>
            </a:r>
            <a:endParaRPr lang="en-US" sz="1200" dirty="0"/>
          </a:p>
        </p:txBody>
      </p:sp>
      <p:sp>
        <p:nvSpPr>
          <p:cNvPr id="5" name="card-body"/>
          <p:cNvSpPr txBox="1"/>
          <p:nvPr/>
        </p:nvSpPr>
        <p:spPr>
          <a:xfrm>
            <a:off x="594360" y="141732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人が書く唯一の入力。発動させたい場面・させたくない場面・知らない事実と出典・受け入れ基準</a:t>
            </a:r>
            <a:endParaRPr lang="en-US" sz="950" dirty="0"/>
          </a:p>
        </p:txBody>
      </p:sp>
      <p:sp>
        <p:nvSpPr>
          <p:cNvPr id="6" name="arrow"/>
          <p:cNvSpPr/>
          <p:nvPr/>
        </p:nvSpPr>
        <p:spPr>
          <a:xfrm>
            <a:off x="2011680" y="1965960"/>
            <a:ext cx="128016" cy="27432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2139696" y="100584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card-head"/>
          <p:cNvSpPr txBox="1"/>
          <p:nvPr/>
        </p:nvSpPr>
        <p:spPr>
          <a:xfrm>
            <a:off x="2276856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段 2 形式検査</a:t>
            </a:r>
            <a:endParaRPr lang="en-US" sz="1200" dirty="0"/>
          </a:p>
        </p:txBody>
      </p:sp>
      <p:sp>
        <p:nvSpPr>
          <p:cNvPr id="9" name="card-body"/>
          <p:cNvSpPr txBox="1"/>
          <p:nvPr/>
        </p:nvSpPr>
        <p:spPr>
          <a:xfrm>
            <a:off x="2276856" y="141732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name とディレクトリ名、description 1024 字、本文 500 行、相対パス、絶対パス無し。機械的に</a:t>
            </a:r>
            <a:endParaRPr lang="en-US" sz="950" dirty="0"/>
          </a:p>
        </p:txBody>
      </p:sp>
      <p:sp>
        <p:nvSpPr>
          <p:cNvPr id="10" name="arrow"/>
          <p:cNvSpPr/>
          <p:nvPr/>
        </p:nvSpPr>
        <p:spPr>
          <a:xfrm>
            <a:off x="3694176" y="1965960"/>
            <a:ext cx="128016" cy="27432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3822192" y="100584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card-head"/>
          <p:cNvSpPr txBox="1"/>
          <p:nvPr/>
        </p:nvSpPr>
        <p:spPr>
          <a:xfrm>
            <a:off x="3959352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段 3 発動試験</a:t>
            </a:r>
            <a:endParaRPr lang="en-US" sz="1200" dirty="0"/>
          </a:p>
        </p:txBody>
      </p:sp>
      <p:sp>
        <p:nvSpPr>
          <p:cNvPr id="13" name="card-body"/>
          <p:cNvSpPr txBox="1"/>
          <p:nvPr/>
        </p:nvSpPr>
        <p:spPr>
          <a:xfrm>
            <a:off x="3959352" y="141732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陽性・陰性ケースをそのまま打つ。結果を TEST_LOG.md に残す</a:t>
            </a:r>
            <a:endParaRPr lang="en-US" sz="950" dirty="0"/>
          </a:p>
        </p:txBody>
      </p:sp>
      <p:sp>
        <p:nvSpPr>
          <p:cNvPr id="14" name="arrow"/>
          <p:cNvSpPr/>
          <p:nvPr/>
        </p:nvSpPr>
        <p:spPr>
          <a:xfrm>
            <a:off x="5376672" y="1965960"/>
            <a:ext cx="128016" cy="27432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5504688" y="100584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card-head"/>
          <p:cNvSpPr txBox="1"/>
          <p:nvPr/>
        </p:nvSpPr>
        <p:spPr>
          <a:xfrm>
            <a:off x="5641848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段 4 レビュー</a:t>
            </a:r>
            <a:endParaRPr lang="en-US" sz="1200" dirty="0"/>
          </a:p>
        </p:txBody>
      </p:sp>
      <p:sp>
        <p:nvSpPr>
          <p:cNvPr id="17" name="card-body"/>
          <p:cNvSpPr txBox="1"/>
          <p:nvPr/>
        </p:nvSpPr>
        <p:spPr>
          <a:xfrm>
            <a:off x="5641848" y="141732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票を書いた人とは別の人。票に無いことが無い、事実に出典、手順は意図と品質基準で</a:t>
            </a:r>
            <a:endParaRPr lang="en-US" sz="950" dirty="0"/>
          </a:p>
        </p:txBody>
      </p:sp>
      <p:sp>
        <p:nvSpPr>
          <p:cNvPr id="18" name="arrow"/>
          <p:cNvSpPr/>
          <p:nvPr/>
        </p:nvSpPr>
        <p:spPr>
          <a:xfrm>
            <a:off x="7059168" y="1965960"/>
            <a:ext cx="128016" cy="27432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9" name="card"/>
          <p:cNvSpPr/>
          <p:nvPr/>
        </p:nvSpPr>
        <p:spPr>
          <a:xfrm>
            <a:off x="7187184" y="100584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card-head"/>
          <p:cNvSpPr txBox="1"/>
          <p:nvPr/>
        </p:nvSpPr>
        <p:spPr>
          <a:xfrm>
            <a:off x="7324344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段 5 配置</a:t>
            </a:r>
            <a:endParaRPr lang="en-US" sz="1200" dirty="0"/>
          </a:p>
        </p:txBody>
      </p:sp>
      <p:sp>
        <p:nvSpPr>
          <p:cNvPr id="21" name="card-body"/>
          <p:cNvSpPr txBox="1"/>
          <p:nvPr/>
        </p:nvSpPr>
        <p:spPr>
          <a:xfrm>
            <a:off x="7324344" y="141732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.github/skills/ に置き、/skills list に出ることを目視。見えた日付を記録</a:t>
            </a:r>
            <a:endParaRPr lang="en-US" sz="950" dirty="0"/>
          </a:p>
        </p:txBody>
      </p:sp>
      <p:sp>
        <p:nvSpPr>
          <p:cNvPr id="22" name="card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card-head"/>
          <p:cNvSpPr txBox="1"/>
          <p:nvPr/>
        </p:nvSpPr>
        <p:spPr>
          <a:xfrm>
            <a:off x="594360" y="36118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増やしすぎない</a:t>
            </a:r>
            <a:endParaRPr lang="en-US" sz="1300" dirty="0"/>
          </a:p>
        </p:txBody>
      </p:sp>
      <p:sp>
        <p:nvSpPr>
          <p:cNvPr id="24" name="card-body"/>
          <p:cNvSpPr txBox="1"/>
          <p:nvPr/>
        </p:nvSpPr>
        <p:spPr>
          <a:xfrm>
            <a:off x="594360" y="3931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全スキルの description が毎回の判断に乗るので、1 本増やすたびに他の全スキルの発動精度が下がる。同時に置くのは 10 本以内を目安に ▲。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スキルにする前に自問: 常にこうである前提(→ 指示)ではないか、1 回しか使わない手順(→ 依頼文)ではないか、特定の役割だけの規則(→ エージェント本文)ではないか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カスタムエージェント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役割を固定し、分業させる。選択と委譲、読み取り専用の審査役、委譲のコスト。持ち運べるのは設計で、書式ではない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3. エージェント: 仕組み、置き場、優先(2026-10 ◎)</a:t>
            </a:r>
            <a:endParaRPr lang="en-US" sz="2200" dirty="0"/>
          </a:p>
        </p:txBody>
      </p:sp>
      <p:sp>
        <p:nvSpPr>
          <p:cNvPr id="3" name="list"/>
          <p:cNvSpPr txBox="1"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.agent.md(Markdown + YAML frontmatter)。本文 30,000 字以内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選ぶ: /agent で一覧から、依頼文で名前を挙げる、--agent=&lt;name&gt;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委譲される: 本体が description に合うと判断するとサブエージェントとして起動。独自の文脈ウィンドウ、並列可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委譲で呼ばれたときは既定でリポジトリの指示を受け取らない → include-custom-instructions: true</a:t>
            </a:r>
            <a:endParaRPr lang="en-US" sz="115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優先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場所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備考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1(最優先)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~/.copilot/agents/&lt;name&gt;.agent.md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個人用。リポジトリより優先される ◎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.github/agents/&lt;name&gt;.agent.md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作業ディレクトリから git ルートまで探す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3〜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.claude/agents/、--add-dir、プラグイン、組織・エンタープライズ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同じ ID は先に読まれた方 ◎</a:t>
                      </a:r>
                      <a:endParaRPr lang="en-US" sz="10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アプリでは /agent で選ぶ ◎。アプリが .github/agents/ を直接読むかは公式に明記が無い ▲ → 手元の環境で確かめる。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チームの定義と同名のものを ~/.copilot/agents/ に置かない(個人が勝つ)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3. エージェント: frontmatter</a:t>
            </a:r>
            <a:endParaRPr lang="en-US" sz="2200" dirty="0"/>
          </a:p>
        </p:txBody>
      </p:sp>
      <p:sp>
        <p:nvSpPr>
          <p:cNvPr id="3" name="code-bg"/>
          <p:cNvSpPr/>
          <p:nvPr/>
        </p:nvSpPr>
        <p:spPr>
          <a:xfrm>
            <a:off x="457200" y="96012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566928" y="1033272"/>
            <a:ext cx="33467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reviewer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実装済みフェーズを HARNESS.md 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ゲート条件で検証し、証拠付きで PASS/FAIL 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判定する読み取り専用の審査役。コードは直さない。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["read", "search", "execute"]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include-custom-instructions: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50" dirty="0"/>
          </a:p>
        </p:txBody>
      </p:sp>
      <p:sp>
        <p:nvSpPr>
          <p:cNvPr id="5" name="text"/>
          <p:cNvSpPr txBox="1"/>
          <p:nvPr/>
        </p:nvSpPr>
        <p:spPr>
          <a:xfrm>
            <a:off x="457200" y="26517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本文には「守ること」と「報告の形式」だけ。作業手順は HARNESS.md とスキルに任せる(手順まで書くと食い違う)。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description は人が選ぶときには効かないが、本体が自動で委譲するかの判断に使われる ◎。やること・やらないことを書く</a:t>
            </a:r>
            <a:endParaRPr lang="en-US" sz="105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960120"/>
          <a:ext cx="4480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キー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意味 / 注意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description(必須)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一覧に出る。委譲の判断材料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tools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省くと全部。* で全部、[] で禁止。エイリアス execute / read / edit / search / agent / web / todo。MCP は server/tool。知らない名前は黙って無視 ◎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model など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省くと本体と同じ。固定が要ると分かってから書く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disable-model-invocation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true で自動委譲を禁止(共通リファレンス ◎)。CLI 文書は infer のみ。手元の環境で確認 △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user-invocable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false で人が選べない(委譲専用)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include-custom-instructions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委譲時にリポジトリの指示を読む。実装役・審査役は true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3. エージェント: 審査役を読み取り専用にする(三重化)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1. ツール制限</a:t>
            </a:r>
            <a:endParaRPr lang="en-US" sz="1300" dirty="0"/>
          </a:p>
        </p:txBody>
      </p:sp>
      <p:sp>
        <p:nvSpPr>
          <p:cNvPr id="5" name="card-body"/>
          <p:cNvSpPr txBox="1"/>
          <p:nvPr/>
        </p:nvSpPr>
        <p:spPr>
          <a:xfrm>
            <a:off x="594360" y="141732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tools から edit を外す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抜け道: execute があればシェルで書ける。execute を外すと測り直しができないので両立しない</a:t>
            </a:r>
            <a:endParaRPr lang="en-US" sz="1050" dirty="0"/>
          </a:p>
        </p:txBody>
      </p:sp>
      <p:sp>
        <p:nvSpPr>
          <p:cNvPr id="6" name="card"/>
          <p:cNvSpPr/>
          <p:nvPr/>
        </p:nvSpPr>
        <p:spPr>
          <a:xfrm>
            <a:off x="3246120" y="10058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3383280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2. 指示本文</a:t>
            </a:r>
            <a:endParaRPr lang="en-US" sz="1300" dirty="0"/>
          </a:p>
        </p:txBody>
      </p:sp>
      <p:sp>
        <p:nvSpPr>
          <p:cNvPr id="8" name="card-body"/>
          <p:cNvSpPr txBox="1"/>
          <p:nvPr/>
        </p:nvSpPr>
        <p:spPr>
          <a:xfrm>
            <a:off x="3383280" y="141732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「ファイルを書かない。直したくなったら FAIL」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指示は確率的に守られる。実測では「シェルで書いてよい」と頼んでも編集せず FAIL を返した △(1 回)</a:t>
            </a:r>
            <a:endParaRPr lang="en-US" sz="1050" dirty="0"/>
          </a:p>
        </p:txBody>
      </p:sp>
      <p:sp>
        <p:nvSpPr>
          <p:cNvPr id="9" name="card"/>
          <p:cNvSpPr/>
          <p:nvPr/>
        </p:nvSpPr>
        <p:spPr>
          <a:xfrm>
            <a:off x="6035040" y="10058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0" name="card-head"/>
          <p:cNvSpPr txBox="1"/>
          <p:nvPr/>
        </p:nvSpPr>
        <p:spPr>
          <a:xfrm>
            <a:off x="6172200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3. 外側の git diff 比較</a:t>
            </a:r>
            <a:endParaRPr lang="en-US" sz="1300" dirty="0"/>
          </a:p>
        </p:txBody>
      </p:sp>
      <p:sp>
        <p:nvSpPr>
          <p:cNvPr id="11" name="card-body"/>
          <p:cNvSpPr txBox="1"/>
          <p:nvPr/>
        </p:nvSpPr>
        <p:spPr>
          <a:xfrm>
            <a:off x="6172200" y="141732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オーケストレータが審査の前後で git diff と git status を採取して比較。差分があれば判定を無効に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検出であって防止ではない。モデルや版が変わっても効く唯一の層。省かない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card-head"/>
          <p:cNvSpPr txBox="1"/>
          <p:nvPr/>
        </p:nvSpPr>
        <p:spPr>
          <a:xfrm>
            <a:off x="594360" y="36576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実装役と審査役を同じモデル・似た指示にしない</a:t>
            </a:r>
            <a:endParaRPr lang="en-US" sz="1300" dirty="0"/>
          </a:p>
        </p:txBody>
      </p:sp>
      <p:sp>
        <p:nvSpPr>
          <p:cNvPr id="14" name="card-body"/>
          <p:cNvSpPr txBox="1"/>
          <p:nvPr/>
        </p:nvSpPr>
        <p:spPr>
          <a:xfrm>
            <a:off x="594360" y="39776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同じモデルは同じ見落としをする。審査役の本文は「疑う」「測り直す」「信じない」を軸に別に書く。陽性コントロールは方法を書く(「隔離コピーで実装を壊してテストが落ちることを示す」)。方法を書かないと安いモデルは弱い確認で済ませる △(4 回中 3 回)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3. エージェント: 委譲のコスト(実測 △ 2026-10-19、各 1 回)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" name="stat"/>
          <p:cNvSpPr txBox="1"/>
          <p:nvPr/>
        </p:nvSpPr>
        <p:spPr>
          <a:xfrm>
            <a:off x="640080" y="1097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0.96</a:t>
            </a:r>
            <a:endParaRPr lang="en-US" sz="5400" dirty="0"/>
          </a:p>
        </p:txBody>
      </p:sp>
      <p:sp>
        <p:nvSpPr>
          <p:cNvPr id="5" name="text"/>
          <p:cNvSpPr txBox="1"/>
          <p:nvPr/>
        </p:nvSpPr>
        <p:spPr>
          <a:xfrm>
            <a:off x="640080" y="2057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AI credits — 手動 2 セッション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実装役・審査役を別々に起動。役ごとの消費がそのまま</a:t>
            </a:r>
            <a:endParaRPr lang="en-US" sz="1150" dirty="0"/>
          </a:p>
        </p:txBody>
      </p:sp>
      <p:sp>
        <p:nvSpPr>
          <p:cNvPr id="6" name="card"/>
          <p:cNvSpPr/>
          <p:nvPr/>
        </p:nvSpPr>
        <p:spPr>
          <a:xfrm>
            <a:off x="4754880" y="10058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7" name="stat"/>
          <p:cNvSpPr txBox="1"/>
          <p:nvPr/>
        </p:nvSpPr>
        <p:spPr>
          <a:xfrm>
            <a:off x="4937760" y="1097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2.01</a:t>
            </a:r>
            <a:endParaRPr lang="en-US" sz="5400" dirty="0"/>
          </a:p>
        </p:txBody>
      </p:sp>
      <p:sp>
        <p:nvSpPr>
          <p:cNvPr id="8" name="text"/>
          <p:cNvSpPr txBox="1"/>
          <p:nvPr/>
        </p:nvSpPr>
        <p:spPr>
          <a:xfrm>
            <a:off x="4937760" y="2057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AI credits — 本体 1 セッションから委譲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本体が文脈を持ち続ける代金(本体だけで 0.82)。サブエージェント単体は手動より安い</a:t>
            </a:r>
            <a:endParaRPr lang="en-US" sz="1150" dirty="0"/>
          </a:p>
        </p:txBody>
      </p:sp>
      <p:sp>
        <p:nvSpPr>
          <p:cNvPr id="9" name="list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委譲は便利だが、本体の文脈を溜めないことが安さの条件。本体は「渡すだけ」にする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基準値取りや小さなフェーズは手動 2 セッション。量産は委譲でもよい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委譲が本当に起きたかは使用量表示で確かめる(本体とサブエージェントの消費が分かれて出る △)。「委譲したつもり」が静かに起きていないことがある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MCP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外部のツールとデータに同じ作法でつなぐ。設定と権限、「CLI があるなら MCP にしない」判断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4. MCP: 位置づけ</a:t>
            </a:r>
            <a:endParaRPr lang="en-US" sz="2200" dirty="0"/>
          </a:p>
        </p:txBody>
      </p:sp>
      <p:pic>
        <p:nvPicPr>
          <p:cNvPr id="3" name="MCP クライアントとサーバーの関係の図" descr="MCP クライアントとサーバーの関係の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498080" cy="328041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4. MCP: Copilot での設定と登録(2026-10 ◎)</a:t>
            </a:r>
            <a:endParaRPr lang="en-US" sz="2200" dirty="0"/>
          </a:p>
        </p:txBody>
      </p:sp>
      <p:sp>
        <p:nvSpPr>
          <p:cNvPr id="3" name="code-bg"/>
          <p:cNvSpPr/>
          <p:nvPr/>
        </p:nvSpPr>
        <p:spPr>
          <a:xfrm>
            <a:off x="457200" y="96012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566928" y="1033272"/>
            <a:ext cx="380390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"playwright":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"local",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"npx",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["@playwright/mcp@latest"],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"tools": ["*"]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"docs-search":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"http",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"url": "https://example.internal/mcp",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"tools": ["search", "fetch"]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text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type は local(stdio)か http。tools は使うツールの許可リスト(既定 *)。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秘密情報を設定ファイルに直書きしない。.github/mcp.json はコミットされる。秘密を要するサーバーは個人用に置く</a:t>
            </a:r>
            <a:endParaRPr lang="en-US" sz="105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層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場所 / 備考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個人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~/.copilot/mcp-config.json。/mcp add、copilot mcp add はここ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リポジトリ(共有)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.github/mcp.json。コミットして共有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リポジトリ(ローカル)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.mcp.json。近いファイルが優先。フォルダ信頼後にだけ読む ◎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読まれない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.vscode/mcp.json(servers キー)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組み込み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GitHub MCP サーバーは設定なしで使える ◎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操作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/mcp list | show | add | edit | delete | disable | enable、/env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アプリ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Customize → MCP。リポジトリ・CLI の設定は自動で使える ◎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4. MCP: 権限と設計の判断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3E5F5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権限(確認ダイアログ)</a:t>
            </a:r>
            <a:endParaRPr lang="en-US" sz="1300" dirty="0"/>
          </a:p>
        </p:txBody>
      </p:sp>
      <p:sp>
        <p:nvSpPr>
          <p:cNvPr id="5" name="list"/>
          <p:cNvSpPr txBox="1"/>
          <p:nvPr/>
        </p:nvSpPr>
        <p:spPr>
          <a:xfrm>
            <a:off x="640080" y="14630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MCP のツール呼び出しは承認の対象 ◎。今回だけ / セッション中 / このリポジトリでは今後聞かない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--allow-tool / --deny-tool。MCP は Server(tool) の形。deny が allow より優先 ◎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保存された承認は ~/.copilot/permissions-config.json。拒否は保存されない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--allow-all-tools / /yolo は使わない(人が最後の砦になれなくなる)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Business / Enterprise は組織ポリシー(MCP servers in Copilot は既定で無効 ◎、許可リストは CLI・アプリでも強制 ◎)。導入前に管理者に現状を確認</a:t>
            </a:r>
            <a:endParaRPr lang="en-US" sz="1050" dirty="0"/>
          </a:p>
        </p:txBody>
      </p:sp>
      <p:sp>
        <p:nvSpPr>
          <p:cNvPr id="6" name="card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489204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設計の判断</a:t>
            </a:r>
            <a:endParaRPr lang="en-US" sz="1300" dirty="0"/>
          </a:p>
        </p:txBody>
      </p:sp>
      <p:sp>
        <p:nvSpPr>
          <p:cNvPr id="8" name="list"/>
          <p:cNvSpPr txBox="1"/>
          <p:nvPr/>
        </p:nvSpPr>
        <p:spPr>
          <a:xfrm>
            <a:off x="4937760" y="14630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既に CLI があるものは MCP にしない。gh、git、ビルドツールはスキルから直接叩く方が透過的で、ツール定義のコストも無い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ツール定義は常時のコスト。tools の許可リストで絞る。使わないサーバーは /mcp disable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ツールの出力は信頼できない入力。Issue 本文や Web ページに混ざった指示に従わせない(指示ファイルに書く)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書き込み系ツールの確認を飛ばさない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リポジトリに置く設定に秘密を書かない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ユーザーハーネス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部品を組み合わせて 1 周回す。HARNESS.md をエージェントと相談して書く、陽性コントロール、共有の仕方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何を解決するか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card-body"/>
          <p:cNvSpPr txBox="1"/>
          <p:nvPr/>
        </p:nvSpPr>
        <p:spPr>
          <a:xfrm>
            <a:off x="594360" y="1115568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「動きました」が証拠にならない</a:t>
            </a:r>
            <a:endParaRPr lang="en-US" sz="1200" dirty="0"/>
          </a:p>
        </p:txBody>
      </p:sp>
      <p:sp>
        <p:nvSpPr>
          <p:cNvPr id="5" name="arrow"/>
          <p:cNvSpPr/>
          <p:nvPr/>
        </p:nvSpPr>
        <p:spPr>
          <a:xfrm>
            <a:off x="3840480" y="1261872"/>
            <a:ext cx="365760" cy="27432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4297680" y="100584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443484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審査役</a:t>
            </a:r>
            <a:endParaRPr lang="en-US" sz="1100" dirty="0"/>
          </a:p>
        </p:txBody>
      </p:sp>
      <p:sp>
        <p:nvSpPr>
          <p:cNvPr id="8" name="card-body"/>
          <p:cNvSpPr txBox="1"/>
          <p:nvPr/>
        </p:nvSpPr>
        <p:spPr>
          <a:xfrm>
            <a:off x="44348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作った本人とは別の審査役が、自分で測り直して判定する</a:t>
            </a:r>
            <a:endParaRPr lang="en-US" sz="1050" dirty="0"/>
          </a:p>
        </p:txBody>
      </p:sp>
      <p:sp>
        <p:nvSpPr>
          <p:cNvPr id="9" name="card"/>
          <p:cNvSpPr/>
          <p:nvPr/>
        </p:nvSpPr>
        <p:spPr>
          <a:xfrm>
            <a:off x="457200" y="1901952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card-body"/>
          <p:cNvSpPr txBox="1"/>
          <p:nvPr/>
        </p:nvSpPr>
        <p:spPr>
          <a:xfrm>
            <a:off x="594360" y="2011680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頼んでいない所まで直す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3840480" y="2157984"/>
            <a:ext cx="365760" cy="27432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4297680" y="1901952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card-head"/>
          <p:cNvSpPr txBox="1"/>
          <p:nvPr/>
        </p:nvSpPr>
        <p:spPr>
          <a:xfrm>
            <a:off x="4434840" y="1993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HARNESS.md</a:t>
            </a:r>
            <a:endParaRPr lang="en-US" sz="1100" dirty="0"/>
          </a:p>
        </p:txBody>
      </p:sp>
      <p:sp>
        <p:nvSpPr>
          <p:cNvPr id="14" name="card-body"/>
          <p:cNvSpPr txBox="1"/>
          <p:nvPr/>
        </p:nvSpPr>
        <p:spPr>
          <a:xfrm>
            <a:off x="4434840" y="2313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HARNESS.md に「実装:」1 行とゲート条件。それ以外は未解決事項に書かせる</a:t>
            </a:r>
            <a:endParaRPr lang="en-US" sz="1050" dirty="0"/>
          </a:p>
        </p:txBody>
      </p:sp>
      <p:sp>
        <p:nvSpPr>
          <p:cNvPr id="15" name="card"/>
          <p:cNvSpPr/>
          <p:nvPr/>
        </p:nvSpPr>
        <p:spPr>
          <a:xfrm>
            <a:off x="457200" y="2798064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card-body"/>
          <p:cNvSpPr txBox="1"/>
          <p:nvPr/>
        </p:nvSpPr>
        <p:spPr>
          <a:xfrm>
            <a:off x="594360" y="2907792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直して壊して、が止まらない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3840480" y="3054096"/>
            <a:ext cx="365760" cy="27432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4297680" y="2798064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card-head"/>
          <p:cNvSpPr txBox="1"/>
          <p:nvPr/>
        </p:nvSpPr>
        <p:spPr>
          <a:xfrm>
            <a:off x="4434840" y="28895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phase-loop</a:t>
            </a:r>
            <a:endParaRPr lang="en-US" sz="1100" dirty="0"/>
          </a:p>
        </p:txBody>
      </p:sp>
      <p:sp>
        <p:nvSpPr>
          <p:cNvPr id="20" name="card-body"/>
          <p:cNvSpPr txBox="1"/>
          <p:nvPr/>
        </p:nvSpPr>
        <p:spPr>
          <a:xfrm>
            <a:off x="4434840" y="3209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起動スキルで 1 周の手順と周回上限(3)を固定し、超えたら人に戻す</a:t>
            </a:r>
            <a:endParaRPr lang="en-US" sz="1050" dirty="0"/>
          </a:p>
        </p:txBody>
      </p:sp>
      <p:sp>
        <p:nvSpPr>
          <p:cNvPr id="21" name="card"/>
          <p:cNvSpPr/>
          <p:nvPr/>
        </p:nvSpPr>
        <p:spPr>
          <a:xfrm>
            <a:off x="457200" y="3694176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card-body"/>
          <p:cNvSpPr txBox="1"/>
          <p:nvPr/>
        </p:nvSpPr>
        <p:spPr>
          <a:xfrm>
            <a:off x="594360" y="3803904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どこまで検証したか分からない</a:t>
            </a:r>
            <a:endParaRPr lang="en-US" sz="1200" dirty="0"/>
          </a:p>
        </p:txBody>
      </p:sp>
      <p:sp>
        <p:nvSpPr>
          <p:cNvPr id="23" name="arrow"/>
          <p:cNvSpPr/>
          <p:nvPr/>
        </p:nvSpPr>
        <p:spPr>
          <a:xfrm>
            <a:off x="3840480" y="3950208"/>
            <a:ext cx="365760" cy="274320"/>
          </a:xfrm>
          <a:prstGeom prst="rightArrow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card"/>
          <p:cNvSpPr/>
          <p:nvPr/>
        </p:nvSpPr>
        <p:spPr>
          <a:xfrm>
            <a:off x="4297680" y="3694176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card-head"/>
          <p:cNvSpPr txBox="1"/>
          <p:nvPr/>
        </p:nvSpPr>
        <p:spPr>
          <a:xfrm>
            <a:off x="4434840" y="37856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記録</a:t>
            </a:r>
            <a:endParaRPr lang="en-US" sz="1100" dirty="0"/>
          </a:p>
        </p:txBody>
      </p:sp>
      <p:sp>
        <p:nvSpPr>
          <p:cNvPr id="26" name="card-body"/>
          <p:cNvSpPr txBox="1"/>
          <p:nvPr/>
        </p:nvSpPr>
        <p:spPr>
          <a:xfrm>
            <a:off x="4434840" y="4105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TEST_REPORT.md と phase-log.csv に結果と周回数を 1 行ずつ残す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部品と、誰が何を読むか</a:t>
            </a:r>
            <a:endParaRPr lang="en-US" sz="2200" dirty="0"/>
          </a:p>
        </p:txBody>
      </p:sp>
      <p:pic>
        <p:nvPicPr>
          <p:cNvPr id="3" name="ユーザーハーネスの部品と、誰が何を読むかの図" descr="ユーザーハーネスの部品と、誰が何を読むかの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68680"/>
            <a:ext cx="6583680" cy="38404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7680960" y="914400"/>
            <a:ext cx="1097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人が一から書くのは HARNESS.md だけ。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残りは雛形の {{ }} を埋める。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雛形: templates/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1 周の流れ</a:t>
            </a:r>
            <a:endParaRPr lang="en-US" sz="2200" dirty="0"/>
          </a:p>
        </p:txBody>
      </p:sp>
      <p:pic>
        <p:nvPicPr>
          <p:cNvPr id="3" name="フェーズゲートの 1 周と周回上限の図" descr="フェーズゲートの 1 周と周回上限の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498080" cy="328041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22960" y="4297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人: 「/phase-loop 2」→ 復唱 → implementer に委譲 → 審査前 git diff と status → reviewer に委譲 → 審査後に比較 → FAIL なら差し戻し(最大 3 周)/ PASS なら人がコミットして記録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運用則(変えない)と、その理由</a:t>
            </a:r>
            <a:endParaRPr lang="en-US" sz="2200" dirty="0"/>
          </a:p>
        </p:txBody>
      </p:sp>
      <p:graphicFrame>
        <p:nvGraphicFramePr>
          <p:cNvPr id="2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則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理由(実証で何が起きたか)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審査役はコードを直さない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直せる審査役は実装役に遠慮する。判定と証拠だけにすると敵対的に検証し、自己検証をすり抜けたバグを捕捉した △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審査役は自分で測り直す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「成功しました」は証拠ではない。嘘の報告 + 仕込んだバグを渡した実測で、全条件を再実行して FAIL を返した △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再レビューは再現手順の再実行で閉じる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修正差分を読んだだけの PASS は、同じ穴が別経路で残っているのを見逃す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陽性コントロールを入れる(方法を書く)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「検出できない検査」が PASS を量産する。方法を書かないと弱い確認で済まされる △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未検証は理由付きで残す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環境起因は時間を区切って見切り、➖ として記録。「なんとなく合格」を作らない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最大 3 周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収束しないフェーズはスコープか要件の問題。モデルを上げても解決しない。人が分割する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完了報告は定型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「未解決事項」欄が次のレビュー観点の供給源。自由形式だと欄が消える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審査前後の git diff と git status を比較する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三重化の 3 層目。モデルや版が変わっても効く唯一の層。未追跡ファイルは diff に出ない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作る手順</a:t>
            </a:r>
            <a:endParaRPr lang="en-US" sz="2200" dirty="0"/>
          </a:p>
        </p:txBody>
      </p:sp>
      <p:sp>
        <p:nvSpPr>
          <p:cNvPr id="3" name="chip"/>
          <p:cNvSpPr/>
          <p:nvPr/>
        </p:nvSpPr>
        <p:spPr>
          <a:xfrm>
            <a:off x="457200" y="1033272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chip-label"/>
          <p:cNvSpPr txBox="1"/>
          <p:nvPr/>
        </p:nvSpPr>
        <p:spPr>
          <a:xfrm>
            <a:off x="457200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</a:t>
            </a:r>
            <a:endParaRPr lang="en-US" sz="1300" dirty="0"/>
          </a:p>
        </p:txBody>
      </p:sp>
      <p:sp>
        <p:nvSpPr>
          <p:cNvPr id="5" name="text"/>
          <p:cNvSpPr txBox="1"/>
          <p:nvPr/>
        </p:nvSpPr>
        <p:spPr>
          <a:xfrm>
            <a:off x="91440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前提</a:t>
            </a:r>
            <a:endParaRPr lang="en-US" sz="1200" dirty="0"/>
          </a:p>
        </p:txBody>
      </p:sp>
      <p:sp>
        <p:nvSpPr>
          <p:cNvPr id="6" name="text"/>
          <p:cNvSpPr txBox="1"/>
          <p:nvPr/>
        </p:nvSpPr>
        <p:spPr>
          <a:xfrm>
            <a:off x="914400" y="12893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ビルド・テストが各 1 行で動く。git status がきれい。e2e-artifacts/ を gitignore。AGENTS.md がある</a:t>
            </a:r>
            <a:endParaRPr lang="en-US" sz="1000" dirty="0"/>
          </a:p>
        </p:txBody>
      </p:sp>
      <p:sp>
        <p:nvSpPr>
          <p:cNvPr id="7" name="chip"/>
          <p:cNvSpPr/>
          <p:nvPr/>
        </p:nvSpPr>
        <p:spPr>
          <a:xfrm>
            <a:off x="4663440" y="1033272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chip-label"/>
          <p:cNvSpPr txBox="1"/>
          <p:nvPr/>
        </p:nvSpPr>
        <p:spPr>
          <a:xfrm>
            <a:off x="4663440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512064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HARNESS.md</a:t>
            </a:r>
            <a:endParaRPr lang="en-US" sz="1200" dirty="0"/>
          </a:p>
        </p:txBody>
      </p:sp>
      <p:sp>
        <p:nvSpPr>
          <p:cNvPr id="10" name="text"/>
          <p:cNvSpPr txBox="1"/>
          <p:nvPr/>
        </p:nvSpPr>
        <p:spPr>
          <a:xfrm>
            <a:off x="5120640" y="12893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エージェントと相談して書く(次のスライド)。環境の節だけは人が埋める</a:t>
            </a:r>
            <a:endParaRPr lang="en-US" sz="1000" dirty="0"/>
          </a:p>
        </p:txBody>
      </p:sp>
      <p:sp>
        <p:nvSpPr>
          <p:cNvPr id="11" name="chip"/>
          <p:cNvSpPr/>
          <p:nvPr/>
        </p:nvSpPr>
        <p:spPr>
          <a:xfrm>
            <a:off x="457200" y="1965960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chip-label"/>
          <p:cNvSpPr txBox="1"/>
          <p:nvPr/>
        </p:nvSpPr>
        <p:spPr>
          <a:xfrm>
            <a:off x="45720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914400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エージェント</a:t>
            </a:r>
            <a:endParaRPr lang="en-US" sz="1200" dirty="0"/>
          </a:p>
        </p:txBody>
      </p:sp>
      <p:sp>
        <p:nvSpPr>
          <p:cNvPr id="14" name="text"/>
          <p:cNvSpPr txBox="1"/>
          <p:nvPr/>
        </p:nvSpPr>
        <p:spPr>
          <a:xfrm>
            <a:off x="914400" y="22219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雛形を .github/agents/ にコピー。/agent に出る。審査役が編集を断る。実装役がコマンドを実行できる</a:t>
            </a:r>
            <a:endParaRPr lang="en-US" sz="1000" dirty="0"/>
          </a:p>
        </p:txBody>
      </p:sp>
      <p:sp>
        <p:nvSpPr>
          <p:cNvPr id="15" name="chip"/>
          <p:cNvSpPr/>
          <p:nvPr/>
        </p:nvSpPr>
        <p:spPr>
          <a:xfrm>
            <a:off x="4663440" y="1965960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chip-label"/>
          <p:cNvSpPr txBox="1"/>
          <p:nvPr/>
        </p:nvSpPr>
        <p:spPr>
          <a:xfrm>
            <a:off x="466344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5120640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起動スキル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5120640" y="22219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phase-loop を .github/skills/ に。/skills list に出る</a:t>
            </a:r>
            <a:endParaRPr lang="en-US" sz="1000" dirty="0"/>
          </a:p>
        </p:txBody>
      </p:sp>
      <p:sp>
        <p:nvSpPr>
          <p:cNvPr id="19" name="chip"/>
          <p:cNvSpPr/>
          <p:nvPr/>
        </p:nvSpPr>
        <p:spPr>
          <a:xfrm>
            <a:off x="457200" y="2898648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chip-label"/>
          <p:cNvSpPr txBox="1"/>
          <p:nvPr/>
        </p:nvSpPr>
        <p:spPr>
          <a:xfrm>
            <a:off x="45720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"/>
          <p:cNvSpPr txBox="1"/>
          <p:nvPr/>
        </p:nvSpPr>
        <p:spPr>
          <a:xfrm>
            <a:off x="914400" y="2871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結果の置き場</a:t>
            </a:r>
            <a:endParaRPr lang="en-US" sz="1200" dirty="0"/>
          </a:p>
        </p:txBody>
      </p:sp>
      <p:sp>
        <p:nvSpPr>
          <p:cNvPr id="22" name="text"/>
          <p:cNvSpPr txBox="1"/>
          <p:nvPr/>
        </p:nvSpPr>
        <p:spPr>
          <a:xfrm>
            <a:off x="914400" y="31546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docs/TEST_REPORT.md(環境 ID と外部 API の版を埋める)。phase-log.csv は初回に生成</a:t>
            </a:r>
            <a:endParaRPr lang="en-US" sz="1000" dirty="0"/>
          </a:p>
        </p:txBody>
      </p:sp>
      <p:sp>
        <p:nvSpPr>
          <p:cNvPr id="23" name="chip"/>
          <p:cNvSpPr/>
          <p:nvPr/>
        </p:nvSpPr>
        <p:spPr>
          <a:xfrm>
            <a:off x="4663440" y="2898648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chip-label"/>
          <p:cNvSpPr txBox="1"/>
          <p:nvPr/>
        </p:nvSpPr>
        <p:spPr>
          <a:xfrm>
            <a:off x="46634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5120640" y="2871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導入チェック</a:t>
            </a:r>
            <a:endParaRPr lang="en-US" sz="1200" dirty="0"/>
          </a:p>
        </p:txBody>
      </p:sp>
      <p:sp>
        <p:nvSpPr>
          <p:cNvPr id="26" name="text"/>
          <p:cNvSpPr txBox="1"/>
          <p:nvPr/>
        </p:nvSpPr>
        <p:spPr>
          <a:xfrm>
            <a:off x="5120640" y="31546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陰性: /phase-loop 0 が PASS。陽性: 壊した実装で FAIL。両方を Phase 0 に記録</a:t>
            </a:r>
            <a:endParaRPr lang="en-US" sz="1000" dirty="0"/>
          </a:p>
        </p:txBody>
      </p:sp>
      <p:sp>
        <p:nvSpPr>
          <p:cNvPr id="27" name="chip"/>
          <p:cNvSpPr/>
          <p:nvPr/>
        </p:nvSpPr>
        <p:spPr>
          <a:xfrm>
            <a:off x="457200" y="3831336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chip-label"/>
          <p:cNvSpPr txBox="1"/>
          <p:nvPr/>
        </p:nvSpPr>
        <p:spPr>
          <a:xfrm>
            <a:off x="45720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"/>
          <p:cNvSpPr txBox="1"/>
          <p:nvPr/>
        </p:nvSpPr>
        <p:spPr>
          <a:xfrm>
            <a:off x="91440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運用</a:t>
            </a:r>
            <a:endParaRPr lang="en-US" sz="1200" dirty="0"/>
          </a:p>
        </p:txBody>
      </p:sp>
      <p:sp>
        <p:nvSpPr>
          <p:cNvPr id="30" name="text"/>
          <p:cNvSpPr txBox="1"/>
          <p:nvPr/>
        </p:nvSpPr>
        <p:spPr>
          <a:xfrm>
            <a:off x="914400" y="40873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 フェーズ 1 セッション(= 1 ブランチ ◎)。モデルは既定のまま。週 1 回、兆候チェック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HARNESS.md をエージェントと相談して書く</a:t>
            </a:r>
            <a:endParaRPr lang="en-US" sz="2200" dirty="0"/>
          </a:p>
        </p:txBody>
      </p:sp>
      <p:sp>
        <p:nvSpPr>
          <p:cNvPr id="3" name="text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草案はエージェントに出させ、人が削る。エージェントの案は「多くて甘い」。人の仕事は足すことではなく、削ることと厳しくすること。Plan モード(計画を人が承認してから実行 ◎)で頼む</a:t>
            </a:r>
            <a:endParaRPr lang="en-US" sz="1150" dirty="0"/>
          </a:p>
        </p:txBody>
      </p:sp>
      <p:sp>
        <p:nvSpPr>
          <p:cNvPr id="4" name="code-bg"/>
          <p:cNvSpPr/>
          <p:nvPr/>
        </p:nvSpPr>
        <p:spPr>
          <a:xfrm>
            <a:off x="457200" y="1508760"/>
            <a:ext cx="4206240" cy="1920240"/>
          </a:xfrm>
          <a:prstGeom prst="roundRect">
            <a:avLst>
              <a:gd name="adj" fmla="val 2857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566928" y="1581912"/>
            <a:ext cx="398678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docs/PLAN.md を読んで、docs/customize/templates/HARNESS.md 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雛形に沿って HARNESS.md の草案を書いて。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フェーズは「1 セッションで 3 周以内に収束する大きさ」に分割。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「実装:」は 1 行、ゲート条件は 3〜5 個。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ゲート条件は審査役が機械的に確認できる形(コマンドと期待する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出力、比較する値、画面で見える要素)に限り、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「正しく動く」「問題ない」は書かないで。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 は環境構築にして。</a:t>
            </a:r>
            <a:endParaRPr lang="en-US" sz="85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悪い(確認できない)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良い(確認できる)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引数の処理が正しく動く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--help に 4 つのサブコマンドが並び、未知の引数で終了コード 2(抜粋)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設定の読み込みが前と同じ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設定ファイル 12 項目の読み込み値が期待表と一致(表で比較)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クラッシュしない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未対応入力を 10 回連打してプロセスが生存(終了コード)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見る所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削る・直す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フェーズの大きさ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「実装:」行に「と」「および」が 2 つ以上あれば分割する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条件の確認可能性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上の表の「悪い」を「良い」に直す。直せない条件は未検証欄へ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条件の数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</a:rPr>
                        <a:t>5 個を超えたら、テストで担保できるものをテストに移して外す</a:t>
                      </a:r>
                      <a:endParaRPr lang="en-US" sz="9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導入チェック(陰性と陽性の両方)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0058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陰性コントロール</a:t>
            </a:r>
            <a:endParaRPr lang="en-US" sz="1300" dirty="0"/>
          </a:p>
        </p:txBody>
      </p:sp>
      <p:sp>
        <p:nvSpPr>
          <p:cNvPr id="5" name="card-body"/>
          <p:cNvSpPr txBox="1"/>
          <p:nvPr/>
        </p:nvSpPr>
        <p:spPr>
          <a:xfrm>
            <a:off x="59436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/phase-loop 0 で Phase 0 が PASS まで通る。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FAIL が出たら、ゲート条件か審査役の指示が厳しすぎる。直してから次へ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754880" y="10058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489204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陽性コントロール</a:t>
            </a:r>
            <a:endParaRPr lang="en-US" sz="1300" dirty="0"/>
          </a:p>
        </p:txBody>
      </p:sp>
      <p:sp>
        <p:nvSpPr>
          <p:cNvPr id="8" name="card-body"/>
          <p:cNvSpPr txBox="1"/>
          <p:nvPr/>
        </p:nvSpPr>
        <p:spPr>
          <a:xfrm>
            <a:off x="489204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HARNESS.md 付録 B の壊し方を 1 つ入れる(例: 比較演算子を反転。テストは通る壊し方を選ぶ)。審査役が FAIL を出し、指摘がその箇所を指す</a:t>
            </a:r>
            <a:endParaRPr lang="en-US" sz="1100" dirty="0"/>
          </a:p>
        </p:txBody>
      </p:sp>
      <p:sp>
        <p:nvSpPr>
          <p:cNvPr id="9" name="text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ハーネスが「回る」ことと「検証する」ことは別。全フェーズが 1 周目で PASS していたら、審査していない</a:t>
            </a:r>
            <a:endParaRPr lang="en-US" sz="1150" dirty="0"/>
          </a:p>
        </p:txBody>
      </p:sp>
      <p:sp>
        <p:nvSpPr>
          <p:cNvPr id="10" name="text"/>
          <p:cNvSpPr txBox="1"/>
          <p:nvPr/>
        </p:nvSpPr>
        <p:spPr>
          <a:xfrm>
            <a:off x="457200" y="3246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☐ HARNESS.md のゲート条件が全フェーズ「確認できる」形</a:t>
            </a:r>
            <a:endParaRPr lang="en-US" sz="1100" dirty="0"/>
          </a:p>
        </p:txBody>
      </p:sp>
      <p:sp>
        <p:nvSpPr>
          <p:cNvPr id="11" name="text"/>
          <p:cNvSpPr txBox="1"/>
          <p:nvPr/>
        </p:nvSpPr>
        <p:spPr>
          <a:xfrm>
            <a:off x="4663440" y="3246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☐ /agent に implementer と reviewer が出る</a:t>
            </a:r>
            <a:endParaRPr lang="en-US" sz="1100" dirty="0"/>
          </a:p>
        </p:txBody>
      </p:sp>
      <p:sp>
        <p:nvSpPr>
          <p:cNvPr id="12" name="text"/>
          <p:cNvSpPr txBox="1"/>
          <p:nvPr/>
        </p:nvSpPr>
        <p:spPr>
          <a:xfrm>
            <a:off x="457200" y="3611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☐ 審査役が編集を断る。実装役がコマンドを実行できる</a:t>
            </a:r>
            <a:endParaRPr lang="en-US" sz="1100" dirty="0"/>
          </a:p>
        </p:txBody>
      </p:sp>
      <p:sp>
        <p:nvSpPr>
          <p:cNvPr id="13" name="text"/>
          <p:cNvSpPr txBox="1"/>
          <p:nvPr/>
        </p:nvSpPr>
        <p:spPr>
          <a:xfrm>
            <a:off x="4663440" y="3611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☐ /skills list に phase-loop が出る</a:t>
            </a:r>
            <a:endParaRPr lang="en-US" sz="1100" dirty="0"/>
          </a:p>
        </p:txBody>
      </p:sp>
      <p:sp>
        <p:nvSpPr>
          <p:cNvPr id="14" name="text"/>
          <p:cNvSpPr txBox="1"/>
          <p:nvPr/>
        </p:nvSpPr>
        <p:spPr>
          <a:xfrm>
            <a:off x="457200" y="39776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☐ TEST_REPORT.md の環境 ID と外部 API の版が埋まっている</a:t>
            </a:r>
            <a:endParaRPr lang="en-US" sz="1100" dirty="0"/>
          </a:p>
        </p:txBody>
      </p:sp>
      <p:sp>
        <p:nvSpPr>
          <p:cNvPr id="15" name="text"/>
          <p:cNvSpPr txBox="1"/>
          <p:nvPr/>
        </p:nvSpPr>
        <p:spPr>
          <a:xfrm>
            <a:off x="4663440" y="39776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☐ /phase-loop 0 が PASS(陰性)。壊した実装で FAIL(陽性)</a:t>
            </a:r>
            <a:endParaRPr lang="en-US" sz="1100" dirty="0"/>
          </a:p>
        </p:txBody>
      </p:sp>
      <p:sp>
        <p:nvSpPr>
          <p:cNvPr id="16" name="text"/>
          <p:cNvSpPr txBox="1"/>
          <p:nvPr/>
        </p:nvSpPr>
        <p:spPr>
          <a:xfrm>
            <a:off x="457200" y="43434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☐ phase-log.csv に Phase 0 の 1 行がある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実演で見る 3 点(導入編のバグ修正を Phase 1 に)</a:t>
            </a:r>
            <a:endParaRPr lang="en-US" sz="2200" dirty="0"/>
          </a:p>
        </p:txBody>
      </p:sp>
      <p:sp>
        <p:nvSpPr>
          <p:cNvPr id="3" name="code-bg"/>
          <p:cNvSpPr/>
          <p:nvPr/>
        </p:nvSpPr>
        <p:spPr>
          <a:xfrm>
            <a:off x="457200" y="960120"/>
            <a:ext cx="4846320" cy="3703320"/>
          </a:xfrm>
          <a:prstGeom prst="roundRect">
            <a:avLst>
              <a:gd name="adj" fmla="val 1481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566928" y="1033272"/>
            <a:ext cx="4626864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人: /phase-loop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[オーケストレータ] Phase 1 を復唱: parse_version の 2 要素入力対応。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ゲート 3 件。implementer に委譲します。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[implementer] 変更: src/version.cpp, tests/version_test.cpp(追加のみ)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ctest: 12/12 成功(前フェーズ 11)。未解決事項: なし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[オーケストレータ] 審査前の差分を採取。reviewer に委譲します。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[reviewer] tests/ 差分: 追加のみ。ctest 生出力: 12 passed, exit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ゲート 3: FAIL — "1.2." で patch が未初期化。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再現: ./build/version_cli "1.2."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陽性コントロール: 隔離コピーで if (parts == 2) を == 3 に変え、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ctest が 2 件落ちることを確認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VERDICT: FAIL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[オーケストレータ] 審査後の差分は一致。指摘を implementer へ(2 周目)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[reviewer] 前回の再現手順を再実行: "1.2." → invalid。VERDICT: PASS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[オーケストレータ] PASS。TEST_REPORT.md と phase-log.csv の差分を提示。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コミットは指示をお待ちします。</a:t>
            </a:r>
            <a:endParaRPr lang="en-US" sz="850" dirty="0"/>
          </a:p>
        </p:txBody>
      </p:sp>
      <p:sp>
        <p:nvSpPr>
          <p:cNvPr id="5" name="card"/>
          <p:cNvSpPr/>
          <p:nvPr/>
        </p:nvSpPr>
        <p:spPr>
          <a:xfrm>
            <a:off x="5486400" y="96012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card-head"/>
          <p:cNvSpPr txBox="1"/>
          <p:nvPr/>
        </p:nvSpPr>
        <p:spPr>
          <a:xfrm>
            <a:off x="5623560" y="1051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① 審査役が自分で測った</a:t>
            </a:r>
            <a:endParaRPr lang="en-US" sz="1300" dirty="0"/>
          </a:p>
        </p:txBody>
      </p:sp>
      <p:sp>
        <p:nvSpPr>
          <p:cNvPr id="7" name="card-body"/>
          <p:cNvSpPr txBox="1"/>
          <p:nvPr/>
        </p:nvSpPr>
        <p:spPr>
          <a:xfrm>
            <a:off x="5623560" y="1371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実装役の件数を写さず、ctest の生出力(件数・終了コード)が貼られている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5486400" y="22402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card-head"/>
          <p:cNvSpPr txBox="1"/>
          <p:nvPr/>
        </p:nvSpPr>
        <p:spPr>
          <a:xfrm>
            <a:off x="562356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② 陽性コントロールに方法がある</a:t>
            </a:r>
            <a:endParaRPr lang="en-US" sz="1300" dirty="0"/>
          </a:p>
        </p:txBody>
      </p:sp>
      <p:sp>
        <p:nvSpPr>
          <p:cNvPr id="10" name="card-body"/>
          <p:cNvSpPr txBox="1"/>
          <p:nvPr/>
        </p:nvSpPr>
        <p:spPr>
          <a:xfrm>
            <a:off x="562356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「隔離コピーで壊してテストが落ちた」。「不正入力にエラーが返る」では検査にならない</a:t>
            </a:r>
            <a:endParaRPr lang="en-US" sz="1050" dirty="0"/>
          </a:p>
        </p:txBody>
      </p:sp>
      <p:sp>
        <p:nvSpPr>
          <p:cNvPr id="11" name="card"/>
          <p:cNvSpPr/>
          <p:nvPr/>
        </p:nvSpPr>
        <p:spPr>
          <a:xfrm>
            <a:off x="5486400" y="35204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card-head"/>
          <p:cNvSpPr txBox="1"/>
          <p:nvPr/>
        </p:nvSpPr>
        <p:spPr>
          <a:xfrm>
            <a:off x="5623560" y="3611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③ FAIL に再現コマンドがある</a:t>
            </a:r>
            <a:endParaRPr lang="en-US" sz="1300" dirty="0"/>
          </a:p>
        </p:txBody>
      </p:sp>
      <p:sp>
        <p:nvSpPr>
          <p:cNvPr id="13" name="card-body"/>
          <p:cNvSpPr txBox="1"/>
          <p:nvPr/>
        </p:nvSpPr>
        <p:spPr>
          <a:xfrm>
            <a:off x="562356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周目の再レビューは同じコマンドの再実行で閉じた。差分を読んだだけの PASS ではない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5. ハーネス: 共有の仕方</a:t>
            </a:r>
            <a:endParaRPr lang="en-US" sz="2200" dirty="0"/>
          </a:p>
        </p:txBody>
      </p:sp>
      <p:sp>
        <p:nvSpPr>
          <p:cNvPr id="3" name="chip"/>
          <p:cNvSpPr/>
          <p:nvPr/>
        </p:nvSpPr>
        <p:spPr>
          <a:xfrm>
            <a:off x="457200" y="1024128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chip-label"/>
          <p:cNvSpPr txBox="1"/>
          <p:nvPr/>
        </p:nvSpPr>
        <p:spPr>
          <a:xfrm>
            <a:off x="45720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"/>
          <p:cNvSpPr txBox="1"/>
          <p:nvPr/>
        </p:nvSpPr>
        <p:spPr>
          <a:xfrm>
            <a:off x="914400" y="1005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管理リポジトリに 1 回書いて、コピーで配る</a:t>
            </a:r>
            <a:endParaRPr lang="en-US" sz="1250" dirty="0"/>
          </a:p>
        </p:txBody>
      </p:sp>
      <p:sp>
        <p:nvSpPr>
          <p:cNvPr id="6" name="text"/>
          <p:cNvSpPr txBox="1"/>
          <p:nvPr/>
        </p:nvSpPr>
        <p:spPr>
          <a:xfrm>
            <a:off x="914400" y="12984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シンボリックリンクやサブモジュールは、エージェント環境の探索が実体を見るため使わない</a:t>
            </a:r>
            <a:endParaRPr lang="en-US" sz="1050" dirty="0"/>
          </a:p>
        </p:txBody>
      </p:sp>
      <p:sp>
        <p:nvSpPr>
          <p:cNvPr id="7" name="chip"/>
          <p:cNvSpPr/>
          <p:nvPr/>
        </p:nvSpPr>
        <p:spPr>
          <a:xfrm>
            <a:off x="457200" y="1755648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chip-label"/>
          <p:cNvSpPr txBox="1"/>
          <p:nvPr/>
        </p:nvSpPr>
        <p:spPr>
          <a:xfrm>
            <a:off x="45720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914400" y="1737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配布先で育つファイルは上書きしない</a:t>
            </a:r>
            <a:endParaRPr lang="en-US" sz="1250" dirty="0"/>
          </a:p>
        </p:txBody>
      </p:sp>
      <p:sp>
        <p:nvSpPr>
          <p:cNvPr id="10" name="text"/>
          <p:cNvSpPr txBox="1"/>
          <p:nvPr/>
        </p:nvSpPr>
        <p:spPr>
          <a:xfrm>
            <a:off x="914400" y="20299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HARNESS.md と TEST_REPORT.md は配った後にそのリポジトリで更新される。初回だけ置き、以後は配布対象から外す</a:t>
            </a:r>
            <a:endParaRPr lang="en-US" sz="1050" dirty="0"/>
          </a:p>
        </p:txBody>
      </p:sp>
      <p:sp>
        <p:nvSpPr>
          <p:cNvPr id="11" name="chip"/>
          <p:cNvSpPr/>
          <p:nvPr/>
        </p:nvSpPr>
        <p:spPr>
          <a:xfrm>
            <a:off x="457200" y="2487168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chip-label"/>
          <p:cNvSpPr txBox="1"/>
          <p:nvPr/>
        </p:nvSpPr>
        <p:spPr>
          <a:xfrm>
            <a:off x="45720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配った後に目で確認する</a:t>
            </a:r>
            <a:endParaRPr lang="en-US" sz="1250" dirty="0"/>
          </a:p>
        </p:txBody>
      </p:sp>
      <p:sp>
        <p:nvSpPr>
          <p:cNvPr id="14" name="text"/>
          <p:cNvSpPr txBox="1"/>
          <p:nvPr/>
        </p:nvSpPr>
        <p:spPr>
          <a:xfrm>
            <a:off x="914400" y="27614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/agent、/skills list、/instructions に出ること。見えない資産は存在しないのと同じ</a:t>
            </a:r>
            <a:endParaRPr lang="en-US" sz="1050" dirty="0"/>
          </a:p>
        </p:txBody>
      </p:sp>
      <p:sp>
        <p:nvSpPr>
          <p:cNvPr id="15" name="chip"/>
          <p:cNvSpPr/>
          <p:nvPr/>
        </p:nvSpPr>
        <p:spPr>
          <a:xfrm>
            <a:off x="457200" y="3218688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chip-label"/>
          <p:cNvSpPr txBox="1"/>
          <p:nvPr/>
        </p:nvSpPr>
        <p:spPr>
          <a:xfrm>
            <a:off x="45720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91440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版を記録する</a:t>
            </a:r>
            <a:endParaRPr lang="en-US" sz="1250" dirty="0"/>
          </a:p>
        </p:txBody>
      </p:sp>
      <p:sp>
        <p:nvSpPr>
          <p:cNvPr id="18" name="text"/>
          <p:cNvSpPr txBox="1"/>
          <p:nvPr/>
        </p:nvSpPr>
        <p:spPr>
          <a:xfrm>
            <a:off x="914400" y="34930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アプリと CLI の版、配った日付、雛形の版を TEST_REPORT.md に。画面と資料が違っていたら画面が正しい</a:t>
            </a:r>
            <a:endParaRPr lang="en-US" sz="1050" dirty="0"/>
          </a:p>
        </p:txBody>
      </p:sp>
      <p:sp>
        <p:nvSpPr>
          <p:cNvPr id="19" name="chip"/>
          <p:cNvSpPr/>
          <p:nvPr/>
        </p:nvSpPr>
        <p:spPr>
          <a:xfrm>
            <a:off x="457200" y="3950208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chip-label"/>
          <p:cNvSpPr txBox="1"/>
          <p:nvPr/>
        </p:nvSpPr>
        <p:spPr>
          <a:xfrm>
            <a:off x="45720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他環境でも同じ HARNESS.md と phase-loop が使える</a:t>
            </a:r>
            <a:endParaRPr lang="en-US" sz="1250" dirty="0"/>
          </a:p>
        </p:txBody>
      </p:sp>
      <p:sp>
        <p:nvSpPr>
          <p:cNvPr id="22" name="text"/>
          <p:cNvSpPr txBox="1"/>
          <p:nvPr/>
        </p:nvSpPr>
        <p:spPr>
          <a:xfrm>
            <a:off x="914400" y="42245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スキルと指示は共通形式。実装役・審査役の定義だけは環境ごとに書き直す(付録 E)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落とし穴: 章をまたいで多いもの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9601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51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description が内容の要約</a:t>
            </a:r>
            <a:endParaRPr lang="en-US" sz="1150" dirty="0"/>
          </a:p>
        </p:txBody>
      </p:sp>
      <p:sp>
        <p:nvSpPr>
          <p:cNvPr id="5" name="card-body"/>
          <p:cNvSpPr txBox="1"/>
          <p:nvPr/>
        </p:nvSpPr>
        <p:spPr>
          <a:xfrm>
            <a:off x="59436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発動しないときに直すのは description。本文ではない</a:t>
            </a:r>
            <a:endParaRPr lang="en-US" sz="950" dirty="0"/>
          </a:p>
        </p:txBody>
      </p:sp>
      <p:sp>
        <p:nvSpPr>
          <p:cNvPr id="6" name="card"/>
          <p:cNvSpPr/>
          <p:nvPr/>
        </p:nvSpPr>
        <p:spPr>
          <a:xfrm>
            <a:off x="3246120" y="9601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3383280" y="1051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編集したのに効かない</a:t>
            </a:r>
            <a:endParaRPr lang="en-US" sz="1150" dirty="0"/>
          </a:p>
        </p:txBody>
      </p:sp>
      <p:sp>
        <p:nvSpPr>
          <p:cNvPr id="8" name="card-body"/>
          <p:cNvSpPr txBox="1"/>
          <p:nvPr/>
        </p:nvSpPr>
        <p:spPr>
          <a:xfrm>
            <a:off x="338328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指示は開始時に読まれる。/new で始め直す</a:t>
            </a:r>
            <a:endParaRPr lang="en-US" sz="950" dirty="0"/>
          </a:p>
        </p:txBody>
      </p:sp>
      <p:sp>
        <p:nvSpPr>
          <p:cNvPr id="9" name="card"/>
          <p:cNvSpPr/>
          <p:nvPr/>
        </p:nvSpPr>
        <p:spPr>
          <a:xfrm>
            <a:off x="6035040" y="9601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0" name="card-head"/>
          <p:cNvSpPr txBox="1"/>
          <p:nvPr/>
        </p:nvSpPr>
        <p:spPr>
          <a:xfrm>
            <a:off x="6172200" y="1051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ツール名の綴り違い</a:t>
            </a:r>
            <a:endParaRPr lang="en-US" sz="1150" dirty="0"/>
          </a:p>
        </p:txBody>
      </p:sp>
      <p:sp>
        <p:nvSpPr>
          <p:cNvPr id="11" name="card-body"/>
          <p:cNvSpPr txBox="1"/>
          <p:nvPr/>
        </p:nvSpPr>
        <p:spPr>
          <a:xfrm>
            <a:off x="617220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知らない名前は黙って無視される。審査役が多くの権限を持っているかも。手元の環境で確かめる</a:t>
            </a:r>
            <a:endParaRPr lang="en-US" sz="950" dirty="0"/>
          </a:p>
        </p:txBody>
      </p:sp>
      <p:sp>
        <p:nvSpPr>
          <p:cNvPr id="12" name="card"/>
          <p:cNvSpPr/>
          <p:nvPr/>
        </p:nvSpPr>
        <p:spPr>
          <a:xfrm>
            <a:off x="457200" y="21945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3" name="card-head"/>
          <p:cNvSpPr txBox="1"/>
          <p:nvPr/>
        </p:nvSpPr>
        <p:spPr>
          <a:xfrm>
            <a:off x="59436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個人用の同名定義が勝つ</a:t>
            </a:r>
            <a:endParaRPr lang="en-US" sz="1150" dirty="0"/>
          </a:p>
        </p:txBody>
      </p:sp>
      <p:sp>
        <p:nvSpPr>
          <p:cNvPr id="14" name="card-body"/>
          <p:cNvSpPr txBox="1"/>
          <p:nvPr/>
        </p:nvSpPr>
        <p:spPr>
          <a:xfrm>
            <a:off x="594360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~/.copilot/agents/ のエージェント、~/.copilot/skills/ のスキル</a:t>
            </a:r>
            <a:endParaRPr lang="en-US" sz="950" dirty="0"/>
          </a:p>
        </p:txBody>
      </p:sp>
      <p:sp>
        <p:nvSpPr>
          <p:cNvPr id="15" name="card"/>
          <p:cNvSpPr/>
          <p:nvPr/>
        </p:nvSpPr>
        <p:spPr>
          <a:xfrm>
            <a:off x="3246120" y="21945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3E5F5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6" name="card-head"/>
          <p:cNvSpPr txBox="1"/>
          <p:nvPr/>
        </p:nvSpPr>
        <p:spPr>
          <a:xfrm>
            <a:off x="338328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MCP が読まれない(未信頼)</a:t>
            </a:r>
            <a:endParaRPr lang="en-US" sz="1150" dirty="0"/>
          </a:p>
        </p:txBody>
      </p:sp>
      <p:sp>
        <p:nvSpPr>
          <p:cNvPr id="17" name="card-body"/>
          <p:cNvSpPr txBox="1"/>
          <p:nvPr/>
        </p:nvSpPr>
        <p:spPr>
          <a:xfrm>
            <a:off x="3383280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リポジトリ側の設定はフォルダを信頼した後にだけ読まれる。/mcp list に無ければまずここ</a:t>
            </a:r>
            <a:endParaRPr lang="en-US" sz="950" dirty="0"/>
          </a:p>
        </p:txBody>
      </p:sp>
      <p:sp>
        <p:nvSpPr>
          <p:cNvPr id="18" name="card"/>
          <p:cNvSpPr/>
          <p:nvPr/>
        </p:nvSpPr>
        <p:spPr>
          <a:xfrm>
            <a:off x="6035040" y="21945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card-head"/>
          <p:cNvSpPr txBox="1"/>
          <p:nvPr/>
        </p:nvSpPr>
        <p:spPr>
          <a:xfrm>
            <a:off x="61722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全フェーズが 1 周目 PASS</a:t>
            </a:r>
            <a:endParaRPr lang="en-US" sz="1150" dirty="0"/>
          </a:p>
        </p:txBody>
      </p:sp>
      <p:sp>
        <p:nvSpPr>
          <p:cNvPr id="20" name="card-body"/>
          <p:cNvSpPr txBox="1"/>
          <p:nvPr/>
        </p:nvSpPr>
        <p:spPr>
          <a:xfrm>
            <a:off x="6172200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審査していない。陽性コントロールをやり直す</a:t>
            </a:r>
            <a:endParaRPr lang="en-US" sz="950" dirty="0"/>
          </a:p>
        </p:txBody>
      </p:sp>
      <p:sp>
        <p:nvSpPr>
          <p:cNvPr id="21" name="card"/>
          <p:cNvSpPr/>
          <p:nvPr/>
        </p:nvSpPr>
        <p:spPr>
          <a:xfrm>
            <a:off x="457200" y="34290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card-head"/>
          <p:cNvSpPr txBox="1"/>
          <p:nvPr/>
        </p:nvSpPr>
        <p:spPr>
          <a:xfrm>
            <a:off x="59436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モデルを上げて解決しようとする</a:t>
            </a:r>
            <a:endParaRPr lang="en-US" sz="1150" dirty="0"/>
          </a:p>
        </p:txBody>
      </p:sp>
      <p:sp>
        <p:nvSpPr>
          <p:cNvPr id="23" name="card-body"/>
          <p:cNvSpPr txBox="1"/>
          <p:nvPr/>
        </p:nvSpPr>
        <p:spPr>
          <a:xfrm>
            <a:off x="59436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3 周で通らないのはスコープの問題。分割する</a:t>
            </a:r>
            <a:endParaRPr lang="en-US" sz="950" dirty="0"/>
          </a:p>
        </p:txBody>
      </p:sp>
      <p:sp>
        <p:nvSpPr>
          <p:cNvPr id="24" name="card"/>
          <p:cNvSpPr/>
          <p:nvPr/>
        </p:nvSpPr>
        <p:spPr>
          <a:xfrm>
            <a:off x="3246120" y="34290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5" name="card-head"/>
          <p:cNvSpPr txBox="1"/>
          <p:nvPr/>
        </p:nvSpPr>
        <p:spPr>
          <a:xfrm>
            <a:off x="338328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本体に実装の詳細を溜める</a:t>
            </a:r>
            <a:endParaRPr lang="en-US" sz="1150" dirty="0"/>
          </a:p>
        </p:txBody>
      </p:sp>
      <p:sp>
        <p:nvSpPr>
          <p:cNvPr id="26" name="card-body"/>
          <p:cNvSpPr txBox="1"/>
          <p:nvPr/>
        </p:nvSpPr>
        <p:spPr>
          <a:xfrm>
            <a:off x="338328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消費が倍になる。本体は渡すだけ</a:t>
            </a:r>
            <a:endParaRPr lang="en-US" sz="950" dirty="0"/>
          </a:p>
        </p:txBody>
      </p:sp>
      <p:sp>
        <p:nvSpPr>
          <p:cNvPr id="27" name="card"/>
          <p:cNvSpPr/>
          <p:nvPr/>
        </p:nvSpPr>
        <p:spPr>
          <a:xfrm>
            <a:off x="6035040" y="34290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card-head"/>
          <p:cNvSpPr txBox="1"/>
          <p:nvPr/>
        </p:nvSpPr>
        <p:spPr>
          <a:xfrm>
            <a:off x="6172200" y="3520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確認を飛ばす設定</a:t>
            </a:r>
            <a:endParaRPr lang="en-US" sz="1150" dirty="0"/>
          </a:p>
        </p:txBody>
      </p:sp>
      <p:sp>
        <p:nvSpPr>
          <p:cNvPr id="29" name="card-body"/>
          <p:cNvSpPr txBox="1"/>
          <p:nvPr/>
        </p:nvSpPr>
        <p:spPr>
          <a:xfrm>
            <a:off x="617220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allowed-tools: shell や --allow-all-tools。人が最後の砦になれない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目で確認するコマンド集</a:t>
            </a:r>
            <a:endParaRPr lang="en-US" sz="2200" dirty="0"/>
          </a:p>
        </p:txBody>
      </p:sp>
      <p:graphicFrame>
        <p:nvGraphicFramePr>
          <p:cNvPr id="3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目的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セッション内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非対話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読まれた環境の全体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/env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指示ファイルの一覧と無効化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/instructions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copilot instruction list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スキルの一覧・詳細・再読み込み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/skills list、/skills info &lt;name&gt;、/skills reload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copilot skill list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スキルの手動起動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/&lt;name&gt; 引数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エージェントの一覧と選択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/agent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copilot --agent=&lt;name&gt; --prompt "..."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MCP の一覧・詳細・停止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/mcp list、/mcp show &lt;name&gt;、/mcp disable &lt;name&gt;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copilot mcp list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承認のリセット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/reset-allowed-tools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新しいセッション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/new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各章の末尾に同じ確認がある。配った後、見えない資産は存在しないのと同じ。スクリーンショット(SS-1〜11)は付録 F の撮影指定に従って手元の環境で撮る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対象外にしたものと、他のエージェント環境での対応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96012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card-head"/>
          <p:cNvSpPr txBox="1"/>
          <p:nvPr/>
        </p:nvSpPr>
        <p:spPr>
          <a:xfrm>
            <a:off x="59436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対象外(付録 D)</a:t>
            </a:r>
            <a:endParaRPr lang="en-US" sz="1300" dirty="0"/>
          </a:p>
        </p:txBody>
      </p:sp>
      <p:sp>
        <p:nvSpPr>
          <p:cNvPr id="5" name="list"/>
          <p:cNvSpPr txBox="1"/>
          <p:nvPr/>
        </p:nvSpPr>
        <p:spPr>
          <a:xfrm>
            <a:off x="640080" y="141732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プロンプトファイル(.prompt.md): CLI・アプリで読まれない ◎ → スキルで代替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フック: 基準は満たすが部品ではない。preToolUse で tests/ への書き込みを deny する、などは後の強化策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プラグイン: 配布の手段。コピー配布を採るので扱わない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Plan / Autopilot、クラウドサンドボックス、Canvas、Computer use、Automations、BYOK: UI 機能</a:t>
            </a:r>
            <a:endParaRPr lang="en-US" sz="1050" dirty="0"/>
          </a:p>
        </p:txBody>
      </p:sp>
      <p:graphicFrame>
        <p:nvGraphicFramePr>
          <p:cNvPr id="3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機能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Claude Code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OpenCode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Codex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指示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CLAUDE.md(無ければ AGENTS.md)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AGENTS.md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AGENTS.md(ネスト)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スキル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同じ仕様 .claude/skills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同じ仕様 .agents/skills ほか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同じ仕様 .agents/skills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エージェント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.claude/agents/*.md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.opencode/agents/*.md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.codex/agents/*.toml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MCP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.mcp.json(type: stdio|http)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opencode.json mcp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config.toml [mcp_servers]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フック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settings.json hooks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プラグイン(JS/TS)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</a:rPr>
                        <a:t>hooks.json</a:t>
                      </a:r>
                      <a:endParaRPr lang="en-US" sz="85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4663440" y="3611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持ち運びの指針: スキルは .github/skills/ を正にして .agents/skills/ にコピー。指示は AGENTS.md を正に。MCP の .mcp.json は Copilot と Claude Code で type の値が違うので分ける ▲。エージェントは本文を持ち運び、frontmatter は環境ごとに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次の一歩: Phase 0 を 1 周回す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1. AGENTS.md を置く(第 1 章の例)   2. 雛形をコピーして HARNESS.md をエージェントと相談して書く(第 5.4 節)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3. /phase-loop 0 で陰性、壊して陽性(第 5.4 節 Step 5)   4. 週 1 回、HARNESS.md 付録 A の兆候を見る</a:t>
            </a:r>
            <a:endParaRPr lang="en-US" sz="1500" dirty="0"/>
          </a:p>
        </p:txBody>
      </p:sp>
      <p:sp>
        <p:nvSpPr>
          <p:cNvPr id="4" name="note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本文: docs/customize/README.md から各章へ。雛形: docs/customize/templates/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ness">
  <a:themeElements>
    <a:clrScheme name="Harness">
      <a:dk1>
        <a:srgbClr val="1F2933"/>
      </a:dk1>
      <a:lt1>
        <a:srgbClr val="FFFFFF"/>
      </a:lt1>
      <a:dk2>
        <a:srgbClr val="52606D"/>
      </a:dk2>
      <a:lt2>
        <a:srgbClr val="F0F4F8"/>
      </a:lt2>
      <a:accent1>
        <a:srgbClr val="0F766E"/>
      </a:accent1>
      <a:accent2>
        <a:srgbClr val="F9A825"/>
      </a:accent2>
      <a:accent3>
        <a:srgbClr val="1E88E5"/>
      </a:accent3>
      <a:accent4>
        <a:srgbClr val="43A047"/>
      </a:accent4>
      <a:accent5>
        <a:srgbClr val="FB8C00"/>
      </a:accent5>
      <a:accent6>
        <a:srgbClr val="8E24AA"/>
      </a:accent6>
      <a:hlink>
        <a:srgbClr val="0F766E"/>
      </a:hlink>
      <a:folHlink>
        <a:srgbClr val="52606D"/>
      </a:folHlink>
    </a:clrScheme>
    <a:fontScheme name="Harness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カスタマイズとユーザーハーネス</dc:title>
  <dc:subject>PptxGenJS Presentation</dc:subject>
  <dc:creator>配布資料</dc:creator>
  <cp:lastModifiedBy>配布資料</cp:lastModifiedBy>
  <cp:revision>1</cp:revision>
  <dcterms:created xsi:type="dcterms:W3CDTF">2026-10-20T23:30:39Z</dcterms:created>
  <dcterms:modified xsi:type="dcterms:W3CDTF">2026-10-20T23:30:39Z</dcterms:modified>
</cp:coreProperties>
</file>